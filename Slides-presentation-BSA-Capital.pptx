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66" r:id="rId2"/>
    <p:sldId id="257" r:id="rId3"/>
    <p:sldId id="267" r:id="rId4"/>
    <p:sldId id="259" r:id="rId5"/>
    <p:sldId id="260" r:id="rId6"/>
    <p:sldId id="261" r:id="rId7"/>
    <p:sldId id="262" r:id="rId8"/>
    <p:sldId id="263" r:id="rId9"/>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F9C6E8-2232-4CBE-9EFE-F65FBCE23F5C}" v="569" dt="2026-09-13T09:57:08.543"/>
    <p1510:client id="{B05179C3-732F-4EF1-9D1C-048E933E0C40}" v="12" dt="2026-09-13T08:12:05.9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457700" cy="917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827713" y="0"/>
            <a:ext cx="4457700" cy="917575"/>
          </a:xfrm>
          <a:prstGeom prst="rect">
            <a:avLst/>
          </a:prstGeom>
        </p:spPr>
        <p:txBody>
          <a:bodyPr vert="horz" lIns="91440" tIns="45720" rIns="91440" bIns="45720" rtlCol="0"/>
          <a:lstStyle>
            <a:lvl1pPr algn="r">
              <a:defRPr sz="1200"/>
            </a:lvl1pPr>
          </a:lstStyle>
          <a:p>
            <a:fld id="{A24CCD5A-483D-4513-BB4F-9E4A5DA2E09C}" type="datetimeFigureOut">
              <a:t>9/13/2026</a:t>
            </a:fld>
            <a:endParaRPr lang="en-US"/>
          </a:p>
        </p:txBody>
      </p:sp>
      <p:sp>
        <p:nvSpPr>
          <p:cNvPr id="4" name="Slide Image Placeholder 3"/>
          <p:cNvSpPr>
            <a:spLocks noGrp="1" noRot="1" noChangeAspect="1"/>
          </p:cNvSpPr>
          <p:nvPr>
            <p:ph type="sldImg" idx="2"/>
          </p:nvPr>
        </p:nvSpPr>
        <p:spPr>
          <a:xfrm>
            <a:off x="-342900" y="2286000"/>
            <a:ext cx="10972800" cy="61722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028700" y="8801100"/>
            <a:ext cx="8229600" cy="72009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7372013"/>
            <a:ext cx="4457700" cy="9159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827713" y="17372013"/>
            <a:ext cx="4457700" cy="915987"/>
          </a:xfrm>
          <a:prstGeom prst="rect">
            <a:avLst/>
          </a:prstGeom>
        </p:spPr>
        <p:txBody>
          <a:bodyPr vert="horz" lIns="91440" tIns="45720" rIns="91440" bIns="45720" rtlCol="0" anchor="b"/>
          <a:lstStyle>
            <a:lvl1pPr algn="r">
              <a:defRPr sz="1200"/>
            </a:lvl1pPr>
          </a:lstStyle>
          <a:p>
            <a:fld id="{0C698EB1-4BE9-462D-9B89-9285CEA0DBE1}" type="slidenum">
              <a:t>‹#›</a:t>
            </a:fld>
            <a:endParaRPr lang="en-US"/>
          </a:p>
        </p:txBody>
      </p:sp>
    </p:spTree>
    <p:extLst>
      <p:ext uri="{BB962C8B-B14F-4D97-AF65-F5344CB8AC3E}">
        <p14:creationId xmlns:p14="http://schemas.microsoft.com/office/powerpoint/2010/main" val="343317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HOLDS 10 SECONDS. 'We're BSA Capital. Regulated close-ended lending funds on the XRP Ledger — a verified company issues a fund, investors subscribe, borrowers draw against it, a fund-of-funds allocates across several of them, and an investor who needs out early can exit before maturity.' Advance. Nothing about the stack; the jury has the README.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HOLDS 30 SECONDS. 'An investor commits to a fund that locks for years. Halfway through they need their money, and the fund says no, at any price.' Pause, point at the marker. 'A manager allocating across several funds is stuck exactly the same way.' Then: 'In traditional finance this is so common it built its own industry, and that industry has exactly two halves. Investors sold a hundred and twenty-five billion of their own locked positions last year, at about eighty-seven cents on the dollar. Managers restructured another hundred and fifteen billion of funds they could not exit.' Land the last line: 'No exchange. No order book. Brokers, and only institutions.' Stop. SOURCE if challenged: Jefferies 2025 Global Secondary Market Review. Total secondary volume was a record 240 billion dollars in 2025, split 125 billion LP-led, an investor selling their own locked stake, and 115 billion GP-led, a manager restructuring. Average LP portfolio pricing closed the year at 87 per cent of NAV. Our two features are those two halves: the resale market is the LP-led side, and curator rebalancing through the same book is the GP-led side. Claim no duration figure, we have no source for one.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HOLDS 25 TO 30 SECONDS. This is an inventory, not an argument — the slides after it make the arguments. Say: 'We built four things. A compliance layer the platform runs, so no individual fund has to. Close-ended funds with real lending inside them. A curated fund-of-funds. And a secondary market.' Pause, then the one observation worth making here: 'The last two turn out to share the same rails, which is the part we did not expect.' Move on. Do not walk the bullets and do not name a transaction type. If a juror asks how much of it is real, the answer is the line at the bottom: eleven transaction types, every one verified on Devnet. If they ask which specifications: credentials and permissioned domains for compliance, the vault and lending standards for the funds — say it, do not put it on the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HOLDS 45 SECONDS. Follow the shares, then the cash. 'The locked investor sends the shares to a custody account. Custody holds shares only — it never touches the buyer's money. The buyer pays the seller directly, and only once that payment is verified does custody release the shares.' Pause. 'Now the part that matters to this room. The buyer has to clear two gates and neither one implies the other: a credential in the fund's domain, and their own opt-in to the share token. Either one missing and the ledger refuses it — tecNO_AUTH.' Say the code once. Then: 'And the opt-in is permissionless. Anyone can create one, so its presence proves nothing about eligibility. That is why we check the credential explicitly rather than trusting the token object.'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HOLDS 45 SECONDS. Follow the money. 'Investors deposit into the fund-of-funds. Now the problem: a vault's account cannot sign, so that vault can never deposit into another vault. Composition is not expressible in this protocol.' Pause. 'So we used the protocol's own escape hatch. The fund-of-funds lends its raise — to a separate account, because a loan whose two sides are the same account is refused. That account carries the targets, fifty, thirty, twenty per cent across three funds. When it repays with interest, the surplus lands back in the fund-of-funds and lifts its price per share. Investors hold one position; underneath it is three funds.' Pause. 'Targets are editable and unwinding is a screen, not a script. This runs end to end on Devnet today.' Then flatly: 'It is a workaround for a missing primitive, and we filed it as one.' Do not soften that.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HOLDS 60 SECONDS — 40% of the score. Left column first, then a short sweep right. Open with the shape: 'Every finding is one claim, one proof, one fix.' ONE, 20 seconds: 'Anyone can permanently disable a lender, and it costs ten drops. You send a single credential to the lender's internal account, and from then on every operation on it fails — including for a borrower who has already repaid and now cannot recover their collateral or their account. The proof is tecINVARIANT_FAILED, the ledger declaring its own rules violated, which is never working as designed. The attacker has no counterparty and gains nothing, so call it denial and entrapment, not theft. The guard already exists; it sits behind an amendment the lending dependency list does not require. One line closes it.' TWO, 20 seconds: 'Anyone can cancel an issuance fee. Route the payment through someone else instead of paying directly: withdraw lets you name another destination, the fee waiver follows the destination, and two thousand paid becomes one thousand.' Expect the objection, are internal accounts inside a vault not correct? Answer: 'Yes, and that is not the bug. The AMM equivalent has no destination field at all, so you withdraw to yourself and that payment pays the fee. Same product shape, one closes the door and the other opens it.' Fee avoidance, not theft. RIGHT COLUMN, 12 seconds, one sweep, do not read all four: 'These four are not vulnerabilities. There is no attacker and no victim — they are for a developer audience, and every one of them is code that reads as a guarantee and delivers none.' If pressed on the fourth, bound it out loud: the asymmetry is real, the exploitability is not. CLOSE, 5 seconds: 'One earlier claim was wrong. We cut it before this slide.' A list that shows what it discarded reads as filtered.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HOLDS 2 MINUTES — about 17 seconds a step. Switch to the app; leave this behind you so the room can track where you are. 1 — a company registers and is verified; an investor takes a credential for their jurisdiction. 2 — the company issues a fund gated to that jurisdiction. 3 — the investor subscribes and receives shares. 4 — the phase flips and a withdrawal is refused; this is the trap from slide two, live. 5 — a loan is drawn and repaid, and the price per share steps up. 6 — the fund-of-funds pushes its raise across three funds on the targets from slide five. 7 — the locked investor lists at a discount, a second investor clears both gates, and the shares move. SAY ONCE, out loud: the on-chain lifecycle is compressed to minutes for the demo, while the interface shows the real-world duration — do not let them think a fund matures in four minutes. FALLBACK: if the network stalls past 20 seconds, say 'let me show you the captures' and move to the strip. Do not wait on it and do not apologise twice.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HOLDS 20 SECONDS, then stop and take questions. One sentence per person, in the order they appear on screen. Do not thank the jury, do not recap the deck, do not read a repo link out loud — it is in the submission.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6"/>
        </a:solidFill>
        <a:effectLst/>
      </p:bgPr>
    </p:bg>
    <p:spTree>
      <p:nvGrpSpPr>
        <p:cNvPr id="1" name=""/>
        <p:cNvGrpSpPr/>
        <p:nvPr/>
      </p:nvGrpSpPr>
      <p:grpSpPr>
        <a:xfrm>
          <a:off x="0" y="0"/>
          <a:ext cx="0" cy="0"/>
          <a:chOff x="0" y="0"/>
          <a:chExt cx="0" cy="0"/>
        </a:xfrm>
      </p:grpSpPr>
      <p:sp>
        <p:nvSpPr>
          <p:cNvPr id="2" name="Text 0"/>
          <p:cNvSpPr/>
          <p:nvPr/>
        </p:nvSpPr>
        <p:spPr>
          <a:xfrm>
            <a:off x="1143000" y="3288982"/>
            <a:ext cx="17602200" cy="1295400"/>
          </a:xfrm>
          <a:prstGeom prst="rect">
            <a:avLst/>
          </a:prstGeom>
          <a:noFill/>
          <a:ln/>
        </p:spPr>
        <p:txBody>
          <a:bodyPr wrap="square" lIns="25400" tIns="25400" rIns="25400" bIns="25400" rtlCol="0" anchor="t">
            <a:normAutofit/>
          </a:bodyPr>
          <a:lstStyle/>
          <a:p>
            <a:pPr marL="0" indent="0" algn="l">
              <a:lnSpc>
                <a:spcPct val="89189"/>
              </a:lnSpc>
              <a:buNone/>
            </a:pPr>
            <a:r>
              <a:rPr lang="en-US" sz="9900" b="1" kern="0" spc="-346" dirty="0">
                <a:solidFill>
                  <a:srgbClr val="E6EDF3"/>
                </a:solidFill>
                <a:latin typeface="Arial" pitchFamily="34" charset="0"/>
                <a:ea typeface="Arial" pitchFamily="34" charset="-122"/>
                <a:cs typeface="Arial" pitchFamily="34" charset="-120"/>
              </a:rPr>
              <a:t>BSA Capital</a:t>
            </a:r>
            <a:endParaRPr lang="en-US" sz="9900" dirty="0"/>
          </a:p>
        </p:txBody>
      </p:sp>
      <p:sp>
        <p:nvSpPr>
          <p:cNvPr id="3" name="Shape 1"/>
          <p:cNvSpPr/>
          <p:nvPr/>
        </p:nvSpPr>
        <p:spPr>
          <a:xfrm>
            <a:off x="1143000" y="4927282"/>
            <a:ext cx="2095500" cy="47625"/>
          </a:xfrm>
          <a:prstGeom prst="rect">
            <a:avLst/>
          </a:prstGeom>
          <a:solidFill>
            <a:srgbClr val="4C8DFF"/>
          </a:solidFill>
          <a:ln/>
        </p:spPr>
      </p:sp>
      <p:sp>
        <p:nvSpPr>
          <p:cNvPr id="4" name="Text 2"/>
          <p:cNvSpPr/>
          <p:nvPr/>
        </p:nvSpPr>
        <p:spPr>
          <a:xfrm>
            <a:off x="1143000" y="5355907"/>
            <a:ext cx="15716250" cy="706755"/>
          </a:xfrm>
          <a:prstGeom prst="rect">
            <a:avLst/>
          </a:prstGeom>
          <a:noFill/>
          <a:ln/>
        </p:spPr>
        <p:txBody>
          <a:bodyPr wrap="square" lIns="25400" tIns="25400" rIns="25400" bIns="25400" rtlCol="0" anchor="t">
            <a:normAutofit/>
          </a:bodyPr>
          <a:lstStyle/>
          <a:p>
            <a:pPr marL="0" indent="0" algn="l">
              <a:lnSpc>
                <a:spcPct val="119659"/>
              </a:lnSpc>
              <a:buNone/>
            </a:pPr>
            <a:r>
              <a:rPr lang="en-US" sz="3900" dirty="0">
                <a:solidFill>
                  <a:srgbClr val="E6EDF3"/>
                </a:solidFill>
                <a:latin typeface="Arial" pitchFamily="34" charset="0"/>
                <a:ea typeface="Arial" pitchFamily="34" charset="-122"/>
                <a:cs typeface="Arial" pitchFamily="34" charset="-120"/>
              </a:rPr>
              <a:t>Closed-ended lending funds on the XRP Ledger.</a:t>
            </a:r>
            <a:endParaRPr lang="en-US" sz="3900" dirty="0"/>
          </a:p>
        </p:txBody>
      </p:sp>
      <p:sp>
        <p:nvSpPr>
          <p:cNvPr id="5" name="Text 3"/>
          <p:cNvSpPr/>
          <p:nvPr/>
        </p:nvSpPr>
        <p:spPr>
          <a:xfrm>
            <a:off x="1143000" y="6405563"/>
            <a:ext cx="15716250" cy="706755"/>
          </a:xfrm>
          <a:prstGeom prst="rect">
            <a:avLst/>
          </a:prstGeom>
          <a:noFill/>
          <a:ln/>
        </p:spPr>
        <p:txBody>
          <a:bodyPr wrap="square" lIns="25400" tIns="25400" rIns="25400" bIns="25400" rtlCol="0" anchor="t">
            <a:normAutofit/>
          </a:bodyPr>
          <a:lstStyle/>
          <a:p>
            <a:pPr marL="0" indent="0" algn="l">
              <a:lnSpc>
                <a:spcPct val="119659"/>
              </a:lnSpc>
              <a:buNone/>
            </a:pPr>
            <a:r>
              <a:rPr lang="en-US" sz="3900" dirty="0">
                <a:solidFill>
                  <a:srgbClr val="8B949E"/>
                </a:solidFill>
                <a:latin typeface="Arial" pitchFamily="34" charset="0"/>
                <a:ea typeface="Arial" pitchFamily="34" charset="-122"/>
                <a:cs typeface="Arial" pitchFamily="34" charset="-120"/>
              </a:rPr>
              <a:t>Everyone is locked in. We built both ways out.</a:t>
            </a:r>
            <a:endParaRPr lang="en-US" sz="3900" dirty="0"/>
          </a:p>
        </p:txBody>
      </p:sp>
    </p:spTree>
    <p:extLst>
      <p:ext uri="{BB962C8B-B14F-4D97-AF65-F5344CB8AC3E}">
        <p14:creationId xmlns:p14="http://schemas.microsoft.com/office/powerpoint/2010/main" val="2268212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116"/>
        </a:solidFill>
        <a:effectLst/>
      </p:bgPr>
    </p:bg>
    <p:spTree>
      <p:nvGrpSpPr>
        <p:cNvPr id="1" name=""/>
        <p:cNvGrpSpPr/>
        <p:nvPr/>
      </p:nvGrpSpPr>
      <p:grpSpPr>
        <a:xfrm>
          <a:off x="0" y="0"/>
          <a:ext cx="0" cy="0"/>
          <a:chOff x="0" y="0"/>
          <a:chExt cx="0" cy="0"/>
        </a:xfrm>
      </p:grpSpPr>
      <p:sp>
        <p:nvSpPr>
          <p:cNvPr id="3" name="Text 1"/>
          <p:cNvSpPr/>
          <p:nvPr/>
        </p:nvSpPr>
        <p:spPr>
          <a:xfrm>
            <a:off x="1143000" y="1346200"/>
            <a:ext cx="17602200" cy="758190"/>
          </a:xfrm>
          <a:prstGeom prst="rect">
            <a:avLst/>
          </a:prstGeom>
          <a:noFill/>
          <a:ln/>
        </p:spPr>
        <p:txBody>
          <a:bodyPr wrap="square" lIns="25400" tIns="25400" rIns="25400" bIns="25400" rtlCol="0" anchor="t">
            <a:normAutofit/>
          </a:bodyPr>
          <a:lstStyle/>
          <a:p>
            <a:pPr marL="0" indent="0" algn="l">
              <a:lnSpc>
                <a:spcPct val="93719"/>
              </a:lnSpc>
              <a:buNone/>
            </a:pPr>
            <a:r>
              <a:rPr lang="en-US" sz="5400" b="1" kern="0" spc="-135" dirty="0">
                <a:solidFill>
                  <a:srgbClr val="E6EDF3"/>
                </a:solidFill>
                <a:latin typeface="Arial" pitchFamily="34" charset="0"/>
                <a:ea typeface="Arial" pitchFamily="34" charset="-122"/>
                <a:cs typeface="Arial" pitchFamily="34" charset="-120"/>
              </a:rPr>
              <a:t>Locked in, halfway through</a:t>
            </a:r>
            <a:endParaRPr lang="en-US" sz="5400" dirty="0"/>
          </a:p>
        </p:txBody>
      </p:sp>
      <p:sp>
        <p:nvSpPr>
          <p:cNvPr id="4" name="Shape 2"/>
          <p:cNvSpPr/>
          <p:nvPr/>
        </p:nvSpPr>
        <p:spPr>
          <a:xfrm>
            <a:off x="1131570" y="3487420"/>
            <a:ext cx="16002000" cy="9525"/>
          </a:xfrm>
          <a:prstGeom prst="rect">
            <a:avLst/>
          </a:prstGeom>
          <a:solidFill>
            <a:srgbClr val="8B949E"/>
          </a:solidFill>
          <a:ln/>
        </p:spPr>
      </p:sp>
      <p:sp>
        <p:nvSpPr>
          <p:cNvPr id="5" name="Shape 3"/>
          <p:cNvSpPr/>
          <p:nvPr/>
        </p:nvSpPr>
        <p:spPr>
          <a:xfrm>
            <a:off x="1131570" y="3411220"/>
            <a:ext cx="9525" cy="161925"/>
          </a:xfrm>
          <a:prstGeom prst="rect">
            <a:avLst/>
          </a:prstGeom>
          <a:solidFill>
            <a:srgbClr val="8B949E"/>
          </a:solidFill>
          <a:ln/>
        </p:spPr>
      </p:sp>
      <p:sp>
        <p:nvSpPr>
          <p:cNvPr id="6" name="Shape 4"/>
          <p:cNvSpPr/>
          <p:nvPr/>
        </p:nvSpPr>
        <p:spPr>
          <a:xfrm>
            <a:off x="17124045" y="3411220"/>
            <a:ext cx="9525" cy="161925"/>
          </a:xfrm>
          <a:prstGeom prst="rect">
            <a:avLst/>
          </a:prstGeom>
          <a:solidFill>
            <a:srgbClr val="8B949E"/>
          </a:solidFill>
          <a:ln/>
        </p:spPr>
      </p:sp>
      <p:sp>
        <p:nvSpPr>
          <p:cNvPr id="7" name="Text 5"/>
          <p:cNvSpPr/>
          <p:nvPr/>
        </p:nvSpPr>
        <p:spPr>
          <a:xfrm>
            <a:off x="1131570" y="3639820"/>
            <a:ext cx="927259" cy="355600"/>
          </a:xfrm>
          <a:prstGeom prst="rect">
            <a:avLst/>
          </a:prstGeom>
          <a:noFill/>
          <a:ln/>
        </p:spPr>
        <p:txBody>
          <a:bodyPr wrap="square" lIns="25400" tIns="25400" rIns="25400" bIns="25400" rtlCol="0" anchor="t">
            <a:normAutofit/>
          </a:bodyPr>
          <a:lstStyle/>
          <a:p>
            <a:pPr marL="0" indent="0" algn="l">
              <a:buNone/>
            </a:pPr>
            <a:r>
              <a:rPr lang="en-US" sz="1800" dirty="0">
                <a:solidFill>
                  <a:srgbClr val="8B949E"/>
                </a:solidFill>
                <a:latin typeface="Arial" pitchFamily="34" charset="0"/>
                <a:ea typeface="Arial" pitchFamily="34" charset="-122"/>
                <a:cs typeface="Arial" pitchFamily="34" charset="-120"/>
              </a:rPr>
              <a:t>commits</a:t>
            </a:r>
            <a:endParaRPr lang="en-US" sz="1800" dirty="0"/>
          </a:p>
        </p:txBody>
      </p:sp>
      <p:sp>
        <p:nvSpPr>
          <p:cNvPr id="8" name="Text 6"/>
          <p:cNvSpPr/>
          <p:nvPr/>
        </p:nvSpPr>
        <p:spPr>
          <a:xfrm>
            <a:off x="16307594" y="3639820"/>
            <a:ext cx="902176" cy="355600"/>
          </a:xfrm>
          <a:prstGeom prst="rect">
            <a:avLst/>
          </a:prstGeom>
          <a:noFill/>
          <a:ln/>
        </p:spPr>
        <p:txBody>
          <a:bodyPr wrap="square" lIns="25400" tIns="25400" rIns="25400" bIns="25400" rtlCol="0" anchor="t">
            <a:normAutofit/>
          </a:bodyPr>
          <a:lstStyle/>
          <a:p>
            <a:pPr marL="0" indent="0" algn="l">
              <a:buNone/>
            </a:pPr>
            <a:r>
              <a:rPr lang="en-US" sz="1800" dirty="0">
                <a:solidFill>
                  <a:srgbClr val="8B949E"/>
                </a:solidFill>
                <a:latin typeface="Arial" pitchFamily="34" charset="0"/>
                <a:ea typeface="Arial" pitchFamily="34" charset="-122"/>
                <a:cs typeface="Arial" pitchFamily="34" charset="-120"/>
              </a:rPr>
              <a:t>matures</a:t>
            </a:r>
            <a:endParaRPr lang="en-US" sz="1800" dirty="0"/>
          </a:p>
        </p:txBody>
      </p:sp>
      <p:sp>
        <p:nvSpPr>
          <p:cNvPr id="9" name="Shape 7"/>
          <p:cNvSpPr/>
          <p:nvPr/>
        </p:nvSpPr>
        <p:spPr>
          <a:xfrm>
            <a:off x="9452610" y="3354070"/>
            <a:ext cx="19050" cy="276225"/>
          </a:xfrm>
          <a:prstGeom prst="rect">
            <a:avLst/>
          </a:prstGeom>
          <a:solidFill>
            <a:srgbClr val="F85149"/>
          </a:solidFill>
          <a:ln/>
        </p:spPr>
      </p:sp>
      <p:sp>
        <p:nvSpPr>
          <p:cNvPr id="10" name="Text 8"/>
          <p:cNvSpPr/>
          <p:nvPr/>
        </p:nvSpPr>
        <p:spPr>
          <a:xfrm>
            <a:off x="9319260" y="3011170"/>
            <a:ext cx="1318069" cy="355600"/>
          </a:xfrm>
          <a:prstGeom prst="rect">
            <a:avLst/>
          </a:prstGeom>
          <a:noFill/>
          <a:ln/>
        </p:spPr>
        <p:txBody>
          <a:bodyPr wrap="none" lIns="25400" tIns="25400" rIns="25400" bIns="25400" rtlCol="0" anchor="t">
            <a:normAutofit/>
          </a:bodyPr>
          <a:lstStyle/>
          <a:p>
            <a:pPr marL="0" indent="0" algn="l">
              <a:buNone/>
            </a:pPr>
            <a:r>
              <a:rPr lang="en-US" sz="1800" dirty="0">
                <a:solidFill>
                  <a:srgbClr val="F85149"/>
                </a:solidFill>
                <a:latin typeface="Arial" pitchFamily="34" charset="0"/>
                <a:ea typeface="Arial" pitchFamily="34" charset="-122"/>
                <a:cs typeface="Arial" pitchFamily="34" charset="-120"/>
              </a:rPr>
              <a:t>needs out ✗</a:t>
            </a:r>
            <a:endParaRPr lang="en-US" sz="1800" dirty="0"/>
          </a:p>
        </p:txBody>
      </p:sp>
      <p:sp>
        <p:nvSpPr>
          <p:cNvPr id="11" name="Text 9"/>
          <p:cNvSpPr/>
          <p:nvPr/>
        </p:nvSpPr>
        <p:spPr>
          <a:xfrm>
            <a:off x="1131570" y="4822190"/>
            <a:ext cx="4610100" cy="1028700"/>
          </a:xfrm>
          <a:prstGeom prst="rect">
            <a:avLst/>
          </a:prstGeom>
          <a:noFill/>
          <a:ln/>
        </p:spPr>
        <p:txBody>
          <a:bodyPr wrap="square" lIns="25400" tIns="25400" rIns="25400" bIns="25400" rtlCol="0" anchor="t">
            <a:normAutofit/>
          </a:bodyPr>
          <a:lstStyle/>
          <a:p>
            <a:pPr marL="0" indent="0" algn="l">
              <a:lnSpc>
                <a:spcPct val="88636"/>
              </a:lnSpc>
              <a:buNone/>
            </a:pPr>
            <a:r>
              <a:rPr lang="en-US" sz="7800" b="1" kern="0" spc="-273" dirty="0">
                <a:solidFill>
                  <a:srgbClr val="4C8DFF"/>
                </a:solidFill>
                <a:latin typeface="Arial" pitchFamily="34" charset="0"/>
                <a:ea typeface="Arial" pitchFamily="34" charset="-122"/>
                <a:cs typeface="Arial" pitchFamily="34" charset="-120"/>
              </a:rPr>
              <a:t>$125B</a:t>
            </a:r>
            <a:endParaRPr lang="en-US" sz="7800" dirty="0"/>
          </a:p>
        </p:txBody>
      </p:sp>
      <p:sp>
        <p:nvSpPr>
          <p:cNvPr id="12" name="Text 10"/>
          <p:cNvSpPr/>
          <p:nvPr/>
        </p:nvSpPr>
        <p:spPr>
          <a:xfrm>
            <a:off x="5730240" y="5048885"/>
            <a:ext cx="12405360" cy="552450"/>
          </a:xfrm>
          <a:prstGeom prst="rect">
            <a:avLst/>
          </a:prstGeom>
          <a:noFill/>
          <a:ln/>
        </p:spPr>
        <p:txBody>
          <a:bodyPr wrap="square" lIns="25400" tIns="25400" rIns="25400" bIns="25400" rtlCol="0" anchor="t">
            <a:normAutofit/>
          </a:bodyPr>
          <a:lstStyle/>
          <a:p>
            <a:pPr marL="0" indent="0" algn="l">
              <a:lnSpc>
                <a:spcPct val="119118"/>
              </a:lnSpc>
              <a:buNone/>
            </a:pPr>
            <a:r>
              <a:rPr lang="en-US" sz="3000" dirty="0">
                <a:solidFill>
                  <a:srgbClr val="E6EDF3"/>
                </a:solidFill>
                <a:latin typeface="Arial" pitchFamily="34" charset="0"/>
                <a:ea typeface="Arial" pitchFamily="34" charset="-122"/>
                <a:cs typeface="Arial" pitchFamily="34" charset="-120"/>
              </a:rPr>
              <a:t>investors sold locked fund positions last year</a:t>
            </a:r>
            <a:endParaRPr lang="en-US" sz="3000" dirty="0"/>
          </a:p>
        </p:txBody>
      </p:sp>
      <p:sp>
        <p:nvSpPr>
          <p:cNvPr id="13" name="Text 11"/>
          <p:cNvSpPr/>
          <p:nvPr/>
        </p:nvSpPr>
        <p:spPr>
          <a:xfrm>
            <a:off x="5730240" y="5658485"/>
            <a:ext cx="12405360" cy="552450"/>
          </a:xfrm>
          <a:prstGeom prst="rect">
            <a:avLst/>
          </a:prstGeom>
          <a:noFill/>
          <a:ln/>
        </p:spPr>
        <p:txBody>
          <a:bodyPr wrap="square" lIns="25400" tIns="25400" rIns="25400" bIns="25400" rtlCol="0" anchor="t">
            <a:normAutofit lnSpcReduction="10000"/>
          </a:bodyPr>
          <a:lstStyle/>
          <a:p>
            <a:pPr>
              <a:lnSpc>
                <a:spcPct val="119118"/>
              </a:lnSpc>
            </a:pPr>
            <a:r>
              <a:rPr lang="en-US" sz="3000" dirty="0">
                <a:solidFill>
                  <a:srgbClr val="8B949E"/>
                </a:solidFill>
                <a:latin typeface="Arial"/>
                <a:ea typeface="Arial" pitchFamily="34" charset="-122"/>
                <a:cs typeface="Arial"/>
              </a:rPr>
              <a:t>at 87 cents for a dollar</a:t>
            </a:r>
            <a:endParaRPr lang="en-US" sz="3000" dirty="0"/>
          </a:p>
        </p:txBody>
      </p:sp>
      <p:sp>
        <p:nvSpPr>
          <p:cNvPr id="14" name="Text 12"/>
          <p:cNvSpPr/>
          <p:nvPr/>
        </p:nvSpPr>
        <p:spPr>
          <a:xfrm>
            <a:off x="1131570" y="6908165"/>
            <a:ext cx="4610100" cy="1028700"/>
          </a:xfrm>
          <a:prstGeom prst="rect">
            <a:avLst/>
          </a:prstGeom>
          <a:noFill/>
          <a:ln/>
        </p:spPr>
        <p:txBody>
          <a:bodyPr wrap="square" lIns="25400" tIns="25400" rIns="25400" bIns="25400" rtlCol="0" anchor="t">
            <a:normAutofit/>
          </a:bodyPr>
          <a:lstStyle/>
          <a:p>
            <a:pPr marL="0" indent="0" algn="l">
              <a:lnSpc>
                <a:spcPct val="88636"/>
              </a:lnSpc>
              <a:buNone/>
            </a:pPr>
            <a:r>
              <a:rPr lang="en-US" sz="7800" b="1" kern="0" spc="-273" dirty="0">
                <a:solidFill>
                  <a:srgbClr val="4C8DFF"/>
                </a:solidFill>
                <a:latin typeface="Arial" pitchFamily="34" charset="0"/>
                <a:ea typeface="Arial" pitchFamily="34" charset="-122"/>
                <a:cs typeface="Arial" pitchFamily="34" charset="-120"/>
              </a:rPr>
              <a:t>$115B</a:t>
            </a:r>
            <a:endParaRPr lang="en-US" sz="7800" dirty="0"/>
          </a:p>
        </p:txBody>
      </p:sp>
      <p:sp>
        <p:nvSpPr>
          <p:cNvPr id="15" name="Text 13"/>
          <p:cNvSpPr/>
          <p:nvPr/>
        </p:nvSpPr>
        <p:spPr>
          <a:xfrm>
            <a:off x="5730240" y="7134860"/>
            <a:ext cx="12405360" cy="552450"/>
          </a:xfrm>
          <a:prstGeom prst="rect">
            <a:avLst/>
          </a:prstGeom>
          <a:noFill/>
          <a:ln/>
        </p:spPr>
        <p:txBody>
          <a:bodyPr wrap="square" lIns="25400" tIns="25400" rIns="25400" bIns="25400" rtlCol="0" anchor="t">
            <a:normAutofit/>
          </a:bodyPr>
          <a:lstStyle/>
          <a:p>
            <a:pPr marL="0" indent="0" algn="l">
              <a:lnSpc>
                <a:spcPct val="119118"/>
              </a:lnSpc>
              <a:buNone/>
            </a:pPr>
            <a:r>
              <a:rPr lang="en-US" sz="3000" dirty="0">
                <a:solidFill>
                  <a:srgbClr val="E6EDF3"/>
                </a:solidFill>
                <a:latin typeface="Arial" pitchFamily="34" charset="0"/>
                <a:ea typeface="Arial" pitchFamily="34" charset="-122"/>
                <a:cs typeface="Arial" pitchFamily="34" charset="-120"/>
              </a:rPr>
              <a:t>managers restructured funds they could not exit</a:t>
            </a:r>
            <a:endParaRPr lang="en-US" sz="3000" dirty="0"/>
          </a:p>
        </p:txBody>
      </p:sp>
      <p:sp>
        <p:nvSpPr>
          <p:cNvPr id="16" name="Text 14"/>
          <p:cNvSpPr/>
          <p:nvPr/>
        </p:nvSpPr>
        <p:spPr>
          <a:xfrm>
            <a:off x="5730240" y="7744460"/>
            <a:ext cx="12405360" cy="552450"/>
          </a:xfrm>
          <a:prstGeom prst="rect">
            <a:avLst/>
          </a:prstGeom>
          <a:noFill/>
          <a:ln/>
        </p:spPr>
        <p:txBody>
          <a:bodyPr wrap="square" lIns="25400" tIns="25400" rIns="25400" bIns="25400" rtlCol="0" anchor="t">
            <a:normAutofit/>
          </a:bodyPr>
          <a:lstStyle/>
          <a:p>
            <a:pPr marL="0" indent="0" algn="l">
              <a:lnSpc>
                <a:spcPct val="119118"/>
              </a:lnSpc>
              <a:buNone/>
            </a:pPr>
            <a:r>
              <a:rPr lang="en-US" sz="3000" dirty="0">
                <a:solidFill>
                  <a:srgbClr val="8B949E"/>
                </a:solidFill>
                <a:latin typeface="Arial" pitchFamily="34" charset="0"/>
                <a:ea typeface="Arial" pitchFamily="34" charset="-122"/>
                <a:cs typeface="Arial" pitchFamily="34" charset="-120"/>
              </a:rPr>
              <a:t>in the same market</a:t>
            </a: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0E1116"/>
        </a:solidFill>
        <a:effectLst/>
      </p:bgPr>
    </p:bg>
    <p:spTree>
      <p:nvGrpSpPr>
        <p:cNvPr id="1" name=""/>
        <p:cNvGrpSpPr/>
        <p:nvPr/>
      </p:nvGrpSpPr>
      <p:grpSpPr>
        <a:xfrm>
          <a:off x="0" y="0"/>
          <a:ext cx="0" cy="0"/>
          <a:chOff x="0" y="0"/>
          <a:chExt cx="0" cy="0"/>
        </a:xfrm>
      </p:grpSpPr>
      <p:sp>
        <p:nvSpPr>
          <p:cNvPr id="3" name="Text 1"/>
          <p:cNvSpPr/>
          <p:nvPr/>
        </p:nvSpPr>
        <p:spPr>
          <a:xfrm>
            <a:off x="1143000" y="1346200"/>
            <a:ext cx="17602200" cy="758190"/>
          </a:xfrm>
          <a:prstGeom prst="rect">
            <a:avLst/>
          </a:prstGeom>
          <a:noFill/>
          <a:ln/>
        </p:spPr>
        <p:txBody>
          <a:bodyPr wrap="square" lIns="25400" tIns="25400" rIns="25400" bIns="25400" rtlCol="0" anchor="t">
            <a:normAutofit/>
          </a:bodyPr>
          <a:lstStyle/>
          <a:p>
            <a:pPr marL="0" indent="0" algn="l">
              <a:lnSpc>
                <a:spcPct val="93719"/>
              </a:lnSpc>
              <a:buNone/>
            </a:pPr>
            <a:r>
              <a:rPr lang="en-US" sz="5400" b="1" kern="0" spc="-135" dirty="0">
                <a:solidFill>
                  <a:srgbClr val="E6EDF3"/>
                </a:solidFill>
                <a:latin typeface="Arial" pitchFamily="34" charset="0"/>
                <a:ea typeface="Arial" pitchFamily="34" charset="-122"/>
                <a:cs typeface="Arial" pitchFamily="34" charset="-120"/>
              </a:rPr>
              <a:t>What we shipped</a:t>
            </a:r>
            <a:endParaRPr lang="en-US" sz="5400" dirty="0"/>
          </a:p>
        </p:txBody>
      </p:sp>
      <p:sp>
        <p:nvSpPr>
          <p:cNvPr id="4" name="Shape 2"/>
          <p:cNvSpPr/>
          <p:nvPr/>
        </p:nvSpPr>
        <p:spPr>
          <a:xfrm>
            <a:off x="1143000" y="2523490"/>
            <a:ext cx="7543800" cy="25400"/>
          </a:xfrm>
          <a:prstGeom prst="rect">
            <a:avLst/>
          </a:prstGeom>
          <a:solidFill>
            <a:srgbClr val="4C8DFF"/>
          </a:solidFill>
          <a:ln/>
        </p:spPr>
      </p:sp>
      <p:sp>
        <p:nvSpPr>
          <p:cNvPr id="5" name="Text 3"/>
          <p:cNvSpPr/>
          <p:nvPr/>
        </p:nvSpPr>
        <p:spPr>
          <a:xfrm>
            <a:off x="1143000" y="2777490"/>
            <a:ext cx="8298180" cy="463550"/>
          </a:xfrm>
          <a:prstGeom prst="rect">
            <a:avLst/>
          </a:prstGeom>
          <a:noFill/>
          <a:ln/>
        </p:spPr>
        <p:txBody>
          <a:bodyPr wrap="square" lIns="25400" tIns="25400" rIns="25400" bIns="25400" rtlCol="0" anchor="t">
            <a:normAutofit/>
          </a:bodyPr>
          <a:lstStyle/>
          <a:p>
            <a:pPr marL="0" indent="0" algn="l">
              <a:buNone/>
            </a:pPr>
            <a:r>
              <a:rPr lang="en-US" sz="2400" b="1" kern="0" spc="144" dirty="0">
                <a:solidFill>
                  <a:srgbClr val="E6EDF3"/>
                </a:solidFill>
                <a:latin typeface="Arial" pitchFamily="34" charset="0"/>
                <a:ea typeface="Arial" pitchFamily="34" charset="-122"/>
                <a:cs typeface="Arial" pitchFamily="34" charset="-120"/>
              </a:rPr>
              <a:t>COMPLIANCE</a:t>
            </a:r>
            <a:endParaRPr lang="en-US" sz="2400" dirty="0"/>
          </a:p>
        </p:txBody>
      </p:sp>
      <p:sp>
        <p:nvSpPr>
          <p:cNvPr id="7" name="Text 5"/>
          <p:cNvSpPr/>
          <p:nvPr/>
        </p:nvSpPr>
        <p:spPr>
          <a:xfrm>
            <a:off x="1143000" y="3511550"/>
            <a:ext cx="150336" cy="384810"/>
          </a:xfrm>
          <a:prstGeom prst="rect">
            <a:avLst/>
          </a:prstGeom>
          <a:noFill/>
          <a:ln/>
        </p:spPr>
        <p:txBody>
          <a:bodyPr wrap="square" lIns="25400" tIns="25400" rIns="25400" bIns="25400" rtlCol="0" anchor="t">
            <a:normAutofit/>
          </a:bodyPr>
          <a:lstStyle/>
          <a:p>
            <a:pPr marL="0" indent="0" algn="l">
              <a:lnSpc>
                <a:spcPct val="113750"/>
              </a:lnSpc>
              <a:buNone/>
            </a:pPr>
            <a:r>
              <a:rPr lang="en-US" sz="2100" dirty="0">
                <a:solidFill>
                  <a:srgbClr val="4C8DFF"/>
                </a:solidFill>
                <a:latin typeface="Arial" pitchFamily="34" charset="0"/>
                <a:ea typeface="Arial" pitchFamily="34" charset="-122"/>
                <a:cs typeface="Arial" pitchFamily="34" charset="-120"/>
              </a:rPr>
              <a:t>·</a:t>
            </a:r>
            <a:endParaRPr lang="en-US" sz="2100" dirty="0"/>
          </a:p>
        </p:txBody>
      </p:sp>
      <p:sp>
        <p:nvSpPr>
          <p:cNvPr id="8" name="Text 6"/>
          <p:cNvSpPr/>
          <p:nvPr/>
        </p:nvSpPr>
        <p:spPr>
          <a:xfrm>
            <a:off x="1350486" y="3511550"/>
            <a:ext cx="4418536" cy="384810"/>
          </a:xfrm>
          <a:prstGeom prst="rect">
            <a:avLst/>
          </a:prstGeom>
          <a:noFill/>
          <a:ln/>
        </p:spPr>
        <p:txBody>
          <a:bodyPr wrap="square" lIns="25400" tIns="25400" rIns="25400" bIns="25400" rtlCol="0" anchor="t">
            <a:normAutofit/>
          </a:bodyPr>
          <a:lstStyle/>
          <a:p>
            <a:pPr marL="0" indent="0" algn="l">
              <a:lnSpc>
                <a:spcPct val="113750"/>
              </a:lnSpc>
              <a:buNone/>
            </a:pPr>
            <a:r>
              <a:rPr lang="en-US" sz="2100" dirty="0">
                <a:solidFill>
                  <a:srgbClr val="E6EDF3"/>
                </a:solidFill>
                <a:latin typeface="Arial" pitchFamily="34" charset="0"/>
                <a:ea typeface="Arial" pitchFamily="34" charset="-122"/>
                <a:cs typeface="Arial" pitchFamily="34" charset="-120"/>
              </a:rPr>
              <a:t>company and investor onboarding</a:t>
            </a:r>
            <a:endParaRPr lang="en-US" sz="2100" dirty="0"/>
          </a:p>
        </p:txBody>
      </p:sp>
      <p:sp>
        <p:nvSpPr>
          <p:cNvPr id="9" name="Text 7"/>
          <p:cNvSpPr/>
          <p:nvPr/>
        </p:nvSpPr>
        <p:spPr>
          <a:xfrm>
            <a:off x="1143000" y="4010660"/>
            <a:ext cx="150336" cy="384810"/>
          </a:xfrm>
          <a:prstGeom prst="rect">
            <a:avLst/>
          </a:prstGeom>
          <a:noFill/>
          <a:ln/>
        </p:spPr>
        <p:txBody>
          <a:bodyPr wrap="square" lIns="25400" tIns="25400" rIns="25400" bIns="25400" rtlCol="0" anchor="t">
            <a:normAutofit/>
          </a:bodyPr>
          <a:lstStyle/>
          <a:p>
            <a:pPr marL="0" indent="0" algn="l">
              <a:lnSpc>
                <a:spcPct val="113750"/>
              </a:lnSpc>
              <a:buNone/>
            </a:pPr>
            <a:r>
              <a:rPr lang="en-US" sz="2100" dirty="0">
                <a:solidFill>
                  <a:srgbClr val="4C8DFF"/>
                </a:solidFill>
                <a:latin typeface="Arial" pitchFamily="34" charset="0"/>
                <a:ea typeface="Arial" pitchFamily="34" charset="-122"/>
                <a:cs typeface="Arial" pitchFamily="34" charset="-120"/>
              </a:rPr>
              <a:t>·</a:t>
            </a:r>
            <a:endParaRPr lang="en-US" sz="2100" dirty="0"/>
          </a:p>
        </p:txBody>
      </p:sp>
      <p:sp>
        <p:nvSpPr>
          <p:cNvPr id="10" name="Text 8"/>
          <p:cNvSpPr/>
          <p:nvPr/>
        </p:nvSpPr>
        <p:spPr>
          <a:xfrm>
            <a:off x="1350486" y="4010660"/>
            <a:ext cx="4369292" cy="384810"/>
          </a:xfrm>
          <a:prstGeom prst="rect">
            <a:avLst/>
          </a:prstGeom>
          <a:noFill/>
          <a:ln/>
        </p:spPr>
        <p:txBody>
          <a:bodyPr wrap="square" lIns="25400" tIns="25400" rIns="25400" bIns="25400" rtlCol="0" anchor="t">
            <a:normAutofit lnSpcReduction="10000"/>
          </a:bodyPr>
          <a:lstStyle/>
          <a:p>
            <a:pPr>
              <a:lnSpc>
                <a:spcPct val="113750"/>
              </a:lnSpc>
            </a:pPr>
            <a:r>
              <a:rPr lang="en-US" sz="2100" dirty="0">
                <a:solidFill>
                  <a:srgbClr val="E6EDF3"/>
                </a:solidFill>
                <a:latin typeface="Arial"/>
                <a:ea typeface="Arial" pitchFamily="34" charset="-122"/>
                <a:cs typeface="Arial"/>
              </a:rPr>
              <a:t>3 zones for permissioned domains</a:t>
            </a:r>
            <a:endParaRPr lang="en-US" sz="2100" dirty="0">
              <a:latin typeface="Arial"/>
              <a:cs typeface="Arial"/>
            </a:endParaRPr>
          </a:p>
        </p:txBody>
      </p:sp>
      <p:sp>
        <p:nvSpPr>
          <p:cNvPr id="11" name="Shape 9"/>
          <p:cNvSpPr/>
          <p:nvPr/>
        </p:nvSpPr>
        <p:spPr>
          <a:xfrm>
            <a:off x="9601200" y="2523490"/>
            <a:ext cx="7543800" cy="25400"/>
          </a:xfrm>
          <a:prstGeom prst="rect">
            <a:avLst/>
          </a:prstGeom>
          <a:solidFill>
            <a:srgbClr val="4C8DFF"/>
          </a:solidFill>
          <a:ln/>
        </p:spPr>
      </p:sp>
      <p:sp>
        <p:nvSpPr>
          <p:cNvPr id="12" name="Text 10"/>
          <p:cNvSpPr/>
          <p:nvPr/>
        </p:nvSpPr>
        <p:spPr>
          <a:xfrm>
            <a:off x="9601200" y="2777490"/>
            <a:ext cx="8298180" cy="463550"/>
          </a:xfrm>
          <a:prstGeom prst="rect">
            <a:avLst/>
          </a:prstGeom>
          <a:noFill/>
          <a:ln/>
        </p:spPr>
        <p:txBody>
          <a:bodyPr wrap="square" lIns="25400" tIns="25400" rIns="25400" bIns="25400" rtlCol="0" anchor="t">
            <a:normAutofit/>
          </a:bodyPr>
          <a:lstStyle/>
          <a:p>
            <a:pPr marL="0" indent="0" algn="l">
              <a:buNone/>
            </a:pPr>
            <a:r>
              <a:rPr lang="en-US" sz="2400" b="1" kern="0" spc="144" dirty="0">
                <a:solidFill>
                  <a:srgbClr val="E6EDF3"/>
                </a:solidFill>
                <a:latin typeface="Arial" pitchFamily="34" charset="0"/>
                <a:ea typeface="Arial" pitchFamily="34" charset="-122"/>
                <a:cs typeface="Arial" pitchFamily="34" charset="-120"/>
              </a:rPr>
              <a:t>FUNDS</a:t>
            </a:r>
            <a:endParaRPr lang="en-US" sz="2400" dirty="0"/>
          </a:p>
        </p:txBody>
      </p:sp>
      <p:sp>
        <p:nvSpPr>
          <p:cNvPr id="14" name="Text 12"/>
          <p:cNvSpPr/>
          <p:nvPr/>
        </p:nvSpPr>
        <p:spPr>
          <a:xfrm>
            <a:off x="9555480" y="3431540"/>
            <a:ext cx="150336" cy="384810"/>
          </a:xfrm>
          <a:prstGeom prst="rect">
            <a:avLst/>
          </a:prstGeom>
          <a:noFill/>
          <a:ln/>
        </p:spPr>
        <p:txBody>
          <a:bodyPr wrap="square" lIns="25400" tIns="25400" rIns="25400" bIns="25400" rtlCol="0" anchor="t">
            <a:normAutofit/>
          </a:bodyPr>
          <a:lstStyle/>
          <a:p>
            <a:pPr marL="0" indent="0" algn="l">
              <a:lnSpc>
                <a:spcPct val="113750"/>
              </a:lnSpc>
              <a:buNone/>
            </a:pPr>
            <a:r>
              <a:rPr lang="en-US" sz="2100" dirty="0">
                <a:solidFill>
                  <a:srgbClr val="4C8DFF"/>
                </a:solidFill>
                <a:latin typeface="Arial" pitchFamily="34" charset="0"/>
                <a:ea typeface="Arial" pitchFamily="34" charset="-122"/>
                <a:cs typeface="Arial" pitchFamily="34" charset="-120"/>
              </a:rPr>
              <a:t>·</a:t>
            </a:r>
            <a:endParaRPr lang="en-US" sz="2100" dirty="0"/>
          </a:p>
        </p:txBody>
      </p:sp>
      <p:sp>
        <p:nvSpPr>
          <p:cNvPr id="15" name="Text 13"/>
          <p:cNvSpPr/>
          <p:nvPr/>
        </p:nvSpPr>
        <p:spPr>
          <a:xfrm>
            <a:off x="9762966" y="3431540"/>
            <a:ext cx="4076271" cy="384810"/>
          </a:xfrm>
          <a:prstGeom prst="rect">
            <a:avLst/>
          </a:prstGeom>
          <a:noFill/>
          <a:ln/>
        </p:spPr>
        <p:txBody>
          <a:bodyPr wrap="square" lIns="25400" tIns="25400" rIns="25400" bIns="25400" rtlCol="0" anchor="t">
            <a:normAutofit lnSpcReduction="10000"/>
          </a:bodyPr>
          <a:lstStyle/>
          <a:p>
            <a:pPr marL="0" indent="0" algn="l">
              <a:lnSpc>
                <a:spcPct val="113750"/>
              </a:lnSpc>
              <a:buNone/>
            </a:pPr>
            <a:r>
              <a:rPr lang="en-US" sz="2100" dirty="0">
                <a:solidFill>
                  <a:srgbClr val="E6EDF3"/>
                </a:solidFill>
                <a:latin typeface="Arial"/>
                <a:ea typeface="Arial" pitchFamily="34" charset="-122"/>
                <a:cs typeface="Arial"/>
              </a:rPr>
              <a:t>launch a fund</a:t>
            </a:r>
            <a:endParaRPr lang="en-US" sz="2100" dirty="0">
              <a:latin typeface="Arial"/>
              <a:cs typeface="Arial"/>
            </a:endParaRPr>
          </a:p>
        </p:txBody>
      </p:sp>
      <p:sp>
        <p:nvSpPr>
          <p:cNvPr id="16" name="Text 14"/>
          <p:cNvSpPr/>
          <p:nvPr/>
        </p:nvSpPr>
        <p:spPr>
          <a:xfrm>
            <a:off x="9555480" y="3930650"/>
            <a:ext cx="150336" cy="384810"/>
          </a:xfrm>
          <a:prstGeom prst="rect">
            <a:avLst/>
          </a:prstGeom>
          <a:noFill/>
          <a:ln/>
        </p:spPr>
        <p:txBody>
          <a:bodyPr wrap="square" lIns="25400" tIns="25400" rIns="25400" bIns="25400" rtlCol="0" anchor="t">
            <a:normAutofit/>
          </a:bodyPr>
          <a:lstStyle/>
          <a:p>
            <a:pPr marL="0" indent="0" algn="l">
              <a:lnSpc>
                <a:spcPct val="113750"/>
              </a:lnSpc>
              <a:buNone/>
            </a:pPr>
            <a:r>
              <a:rPr lang="en-US" sz="2100" dirty="0">
                <a:solidFill>
                  <a:srgbClr val="4C8DFF"/>
                </a:solidFill>
                <a:latin typeface="Arial" pitchFamily="34" charset="0"/>
                <a:ea typeface="Arial" pitchFamily="34" charset="-122"/>
                <a:cs typeface="Arial" pitchFamily="34" charset="-120"/>
              </a:rPr>
              <a:t>·</a:t>
            </a:r>
            <a:endParaRPr lang="en-US" sz="2100" dirty="0"/>
          </a:p>
        </p:txBody>
      </p:sp>
      <p:sp>
        <p:nvSpPr>
          <p:cNvPr id="17" name="Text 15"/>
          <p:cNvSpPr/>
          <p:nvPr/>
        </p:nvSpPr>
        <p:spPr>
          <a:xfrm>
            <a:off x="9762966" y="3930650"/>
            <a:ext cx="4368768" cy="384810"/>
          </a:xfrm>
          <a:prstGeom prst="rect">
            <a:avLst/>
          </a:prstGeom>
          <a:noFill/>
          <a:ln/>
        </p:spPr>
        <p:txBody>
          <a:bodyPr wrap="square" lIns="25400" tIns="25400" rIns="25400" bIns="25400" rtlCol="0" anchor="t">
            <a:normAutofit/>
          </a:bodyPr>
          <a:lstStyle/>
          <a:p>
            <a:pPr marL="0" indent="0" algn="l">
              <a:lnSpc>
                <a:spcPct val="113750"/>
              </a:lnSpc>
              <a:buNone/>
            </a:pPr>
            <a:r>
              <a:rPr lang="en-US" sz="2100" dirty="0">
                <a:solidFill>
                  <a:srgbClr val="E6EDF3"/>
                </a:solidFill>
                <a:latin typeface="Arial" pitchFamily="34" charset="0"/>
                <a:ea typeface="Arial" pitchFamily="34" charset="-122"/>
                <a:cs typeface="Arial" pitchFamily="34" charset="-120"/>
              </a:rPr>
              <a:t>subscribe, borrow, repay, redeem</a:t>
            </a:r>
            <a:endParaRPr lang="en-US" sz="2100" dirty="0"/>
          </a:p>
        </p:txBody>
      </p:sp>
      <p:sp>
        <p:nvSpPr>
          <p:cNvPr id="18" name="Shape 16"/>
          <p:cNvSpPr/>
          <p:nvPr/>
        </p:nvSpPr>
        <p:spPr>
          <a:xfrm>
            <a:off x="1143000" y="5941695"/>
            <a:ext cx="7543800" cy="25400"/>
          </a:xfrm>
          <a:prstGeom prst="rect">
            <a:avLst/>
          </a:prstGeom>
          <a:solidFill>
            <a:srgbClr val="4C8DFF"/>
          </a:solidFill>
          <a:ln/>
        </p:spPr>
      </p:sp>
      <p:sp>
        <p:nvSpPr>
          <p:cNvPr id="19" name="Text 17"/>
          <p:cNvSpPr/>
          <p:nvPr/>
        </p:nvSpPr>
        <p:spPr>
          <a:xfrm>
            <a:off x="1143000" y="6195695"/>
            <a:ext cx="8298180" cy="463550"/>
          </a:xfrm>
          <a:prstGeom prst="rect">
            <a:avLst/>
          </a:prstGeom>
          <a:noFill/>
          <a:ln/>
        </p:spPr>
        <p:txBody>
          <a:bodyPr wrap="square" lIns="25400" tIns="25400" rIns="25400" bIns="25400" rtlCol="0" anchor="t">
            <a:normAutofit/>
          </a:bodyPr>
          <a:lstStyle/>
          <a:p>
            <a:pPr marL="0" indent="0" algn="l">
              <a:buNone/>
            </a:pPr>
            <a:r>
              <a:rPr lang="en-US" sz="2400" b="1" kern="0" spc="144" dirty="0">
                <a:solidFill>
                  <a:srgbClr val="E6EDF3"/>
                </a:solidFill>
                <a:latin typeface="Arial" pitchFamily="34" charset="0"/>
                <a:ea typeface="Arial" pitchFamily="34" charset="-122"/>
                <a:cs typeface="Arial" pitchFamily="34" charset="-120"/>
              </a:rPr>
              <a:t>FUND-OF-FUNDS</a:t>
            </a:r>
            <a:endParaRPr lang="en-US" sz="2400" dirty="0"/>
          </a:p>
        </p:txBody>
      </p:sp>
      <p:sp>
        <p:nvSpPr>
          <p:cNvPr id="21" name="Text 19"/>
          <p:cNvSpPr/>
          <p:nvPr/>
        </p:nvSpPr>
        <p:spPr>
          <a:xfrm>
            <a:off x="1143000" y="6861175"/>
            <a:ext cx="150336" cy="384810"/>
          </a:xfrm>
          <a:prstGeom prst="rect">
            <a:avLst/>
          </a:prstGeom>
          <a:noFill/>
          <a:ln/>
        </p:spPr>
        <p:txBody>
          <a:bodyPr wrap="square" lIns="25400" tIns="25400" rIns="25400" bIns="25400" rtlCol="0" anchor="t">
            <a:normAutofit/>
          </a:bodyPr>
          <a:lstStyle/>
          <a:p>
            <a:pPr marL="0" indent="0" algn="l">
              <a:lnSpc>
                <a:spcPct val="113750"/>
              </a:lnSpc>
              <a:buNone/>
            </a:pPr>
            <a:r>
              <a:rPr lang="en-US" sz="2100" dirty="0">
                <a:solidFill>
                  <a:srgbClr val="4C8DFF"/>
                </a:solidFill>
                <a:latin typeface="Arial" pitchFamily="34" charset="0"/>
                <a:ea typeface="Arial" pitchFamily="34" charset="-122"/>
                <a:cs typeface="Arial" pitchFamily="34" charset="-120"/>
              </a:rPr>
              <a:t>·</a:t>
            </a:r>
            <a:endParaRPr lang="en-US" sz="2100" dirty="0"/>
          </a:p>
        </p:txBody>
      </p:sp>
      <p:sp>
        <p:nvSpPr>
          <p:cNvPr id="22" name="Text 20"/>
          <p:cNvSpPr/>
          <p:nvPr/>
        </p:nvSpPr>
        <p:spPr>
          <a:xfrm>
            <a:off x="1350486" y="6861175"/>
            <a:ext cx="3912997" cy="384810"/>
          </a:xfrm>
          <a:prstGeom prst="rect">
            <a:avLst/>
          </a:prstGeom>
          <a:noFill/>
          <a:ln/>
        </p:spPr>
        <p:txBody>
          <a:bodyPr wrap="square" lIns="25400" tIns="25400" rIns="25400" bIns="25400" rtlCol="0" anchor="t">
            <a:normAutofit/>
          </a:bodyPr>
          <a:lstStyle/>
          <a:p>
            <a:pPr marL="0" indent="0" algn="l">
              <a:lnSpc>
                <a:spcPct val="113750"/>
              </a:lnSpc>
              <a:buNone/>
            </a:pPr>
            <a:r>
              <a:rPr lang="en-US" sz="2100" dirty="0">
                <a:solidFill>
                  <a:srgbClr val="E6EDF3"/>
                </a:solidFill>
                <a:latin typeface="Arial" pitchFamily="34" charset="0"/>
                <a:ea typeface="Arial" pitchFamily="34" charset="-122"/>
                <a:cs typeface="Arial" pitchFamily="34" charset="-120"/>
              </a:rPr>
              <a:t>allocate a raise in basis points</a:t>
            </a:r>
            <a:endParaRPr lang="en-US" sz="2100" dirty="0"/>
          </a:p>
        </p:txBody>
      </p:sp>
      <p:sp>
        <p:nvSpPr>
          <p:cNvPr id="23" name="Text 21"/>
          <p:cNvSpPr/>
          <p:nvPr/>
        </p:nvSpPr>
        <p:spPr>
          <a:xfrm>
            <a:off x="1143000" y="7360285"/>
            <a:ext cx="150336" cy="384810"/>
          </a:xfrm>
          <a:prstGeom prst="rect">
            <a:avLst/>
          </a:prstGeom>
          <a:noFill/>
          <a:ln/>
        </p:spPr>
        <p:txBody>
          <a:bodyPr wrap="square" lIns="25400" tIns="25400" rIns="25400" bIns="25400" rtlCol="0" anchor="t">
            <a:normAutofit/>
          </a:bodyPr>
          <a:lstStyle/>
          <a:p>
            <a:pPr marL="0" indent="0" algn="l">
              <a:lnSpc>
                <a:spcPct val="113750"/>
              </a:lnSpc>
              <a:buNone/>
            </a:pPr>
            <a:r>
              <a:rPr lang="en-US" sz="2100" dirty="0">
                <a:solidFill>
                  <a:srgbClr val="4C8DFF"/>
                </a:solidFill>
                <a:latin typeface="Arial" pitchFamily="34" charset="0"/>
                <a:ea typeface="Arial" pitchFamily="34" charset="-122"/>
                <a:cs typeface="Arial" pitchFamily="34" charset="-120"/>
              </a:rPr>
              <a:t>·</a:t>
            </a:r>
            <a:endParaRPr lang="en-US" sz="2100" dirty="0"/>
          </a:p>
        </p:txBody>
      </p:sp>
      <p:sp>
        <p:nvSpPr>
          <p:cNvPr id="24" name="Text 22"/>
          <p:cNvSpPr/>
          <p:nvPr/>
        </p:nvSpPr>
        <p:spPr>
          <a:xfrm>
            <a:off x="1350486" y="7360285"/>
            <a:ext cx="4320571" cy="384810"/>
          </a:xfrm>
          <a:prstGeom prst="rect">
            <a:avLst/>
          </a:prstGeom>
          <a:noFill/>
          <a:ln/>
        </p:spPr>
        <p:txBody>
          <a:bodyPr wrap="square" lIns="25400" tIns="25400" rIns="25400" bIns="25400" rtlCol="0" anchor="t">
            <a:normAutofit/>
          </a:bodyPr>
          <a:lstStyle/>
          <a:p>
            <a:pPr marL="0" indent="0" algn="l">
              <a:lnSpc>
                <a:spcPct val="113750"/>
              </a:lnSpc>
              <a:buNone/>
            </a:pPr>
            <a:r>
              <a:rPr lang="en-US" sz="2100" dirty="0">
                <a:solidFill>
                  <a:srgbClr val="E6EDF3"/>
                </a:solidFill>
                <a:latin typeface="Arial" pitchFamily="34" charset="0"/>
                <a:ea typeface="Arial" pitchFamily="34" charset="-122"/>
                <a:cs typeface="Arial" pitchFamily="34" charset="-120"/>
              </a:rPr>
              <a:t>maturity cascade enforced above</a:t>
            </a:r>
            <a:endParaRPr lang="en-US" sz="2100" dirty="0"/>
          </a:p>
        </p:txBody>
      </p:sp>
      <p:sp>
        <p:nvSpPr>
          <p:cNvPr id="25" name="Shape 23"/>
          <p:cNvSpPr/>
          <p:nvPr/>
        </p:nvSpPr>
        <p:spPr>
          <a:xfrm>
            <a:off x="9601200" y="5941695"/>
            <a:ext cx="7543800" cy="25400"/>
          </a:xfrm>
          <a:prstGeom prst="rect">
            <a:avLst/>
          </a:prstGeom>
          <a:solidFill>
            <a:srgbClr val="4C8DFF"/>
          </a:solidFill>
          <a:ln/>
        </p:spPr>
      </p:sp>
      <p:sp>
        <p:nvSpPr>
          <p:cNvPr id="26" name="Text 24"/>
          <p:cNvSpPr/>
          <p:nvPr/>
        </p:nvSpPr>
        <p:spPr>
          <a:xfrm>
            <a:off x="9601200" y="6195695"/>
            <a:ext cx="8298180" cy="463550"/>
          </a:xfrm>
          <a:prstGeom prst="rect">
            <a:avLst/>
          </a:prstGeom>
          <a:noFill/>
          <a:ln/>
        </p:spPr>
        <p:txBody>
          <a:bodyPr wrap="square" lIns="25400" tIns="25400" rIns="25400" bIns="25400" rtlCol="0" anchor="t">
            <a:normAutofit/>
          </a:bodyPr>
          <a:lstStyle/>
          <a:p>
            <a:pPr marL="0" indent="0" algn="l">
              <a:buNone/>
            </a:pPr>
            <a:r>
              <a:rPr lang="en-US" sz="2400" b="1" kern="0" spc="144" dirty="0">
                <a:solidFill>
                  <a:srgbClr val="E6EDF3"/>
                </a:solidFill>
                <a:latin typeface="Arial" pitchFamily="34" charset="0"/>
                <a:ea typeface="Arial" pitchFamily="34" charset="-122"/>
                <a:cs typeface="Arial" pitchFamily="34" charset="-120"/>
              </a:rPr>
              <a:t>SECONDARY MARKET</a:t>
            </a:r>
            <a:endParaRPr lang="en-US" sz="2400" dirty="0"/>
          </a:p>
        </p:txBody>
      </p:sp>
      <p:sp>
        <p:nvSpPr>
          <p:cNvPr id="28" name="Text 26"/>
          <p:cNvSpPr/>
          <p:nvPr/>
        </p:nvSpPr>
        <p:spPr>
          <a:xfrm>
            <a:off x="9589770" y="7055485"/>
            <a:ext cx="150336" cy="384810"/>
          </a:xfrm>
          <a:prstGeom prst="rect">
            <a:avLst/>
          </a:prstGeom>
          <a:noFill/>
          <a:ln/>
        </p:spPr>
        <p:txBody>
          <a:bodyPr wrap="square" lIns="25400" tIns="25400" rIns="25400" bIns="25400" rtlCol="0" anchor="t">
            <a:normAutofit/>
          </a:bodyPr>
          <a:lstStyle/>
          <a:p>
            <a:pPr marL="0" indent="0" algn="l">
              <a:lnSpc>
                <a:spcPct val="113750"/>
              </a:lnSpc>
              <a:buNone/>
            </a:pPr>
            <a:r>
              <a:rPr lang="en-US" sz="2100" dirty="0">
                <a:solidFill>
                  <a:srgbClr val="4C8DFF"/>
                </a:solidFill>
                <a:latin typeface="Arial" pitchFamily="34" charset="0"/>
                <a:ea typeface="Arial" pitchFamily="34" charset="-122"/>
                <a:cs typeface="Arial" pitchFamily="34" charset="-120"/>
              </a:rPr>
              <a:t>·</a:t>
            </a:r>
            <a:endParaRPr lang="en-US" sz="2100" dirty="0"/>
          </a:p>
        </p:txBody>
      </p:sp>
      <p:sp>
        <p:nvSpPr>
          <p:cNvPr id="29" name="Text 27"/>
          <p:cNvSpPr/>
          <p:nvPr/>
        </p:nvSpPr>
        <p:spPr>
          <a:xfrm>
            <a:off x="9797256" y="7055485"/>
            <a:ext cx="4239196" cy="384810"/>
          </a:xfrm>
          <a:prstGeom prst="rect">
            <a:avLst/>
          </a:prstGeom>
          <a:noFill/>
          <a:ln/>
        </p:spPr>
        <p:txBody>
          <a:bodyPr wrap="square" lIns="25400" tIns="25400" rIns="25400" bIns="25400" rtlCol="0" anchor="t">
            <a:normAutofit/>
          </a:bodyPr>
          <a:lstStyle/>
          <a:p>
            <a:pPr marL="0" indent="0" algn="l">
              <a:lnSpc>
                <a:spcPct val="113750"/>
              </a:lnSpc>
              <a:buNone/>
            </a:pPr>
            <a:r>
              <a:rPr lang="en-US" sz="2100" dirty="0">
                <a:solidFill>
                  <a:srgbClr val="E6EDF3"/>
                </a:solidFill>
                <a:latin typeface="Arial" pitchFamily="34" charset="0"/>
                <a:ea typeface="Arial" pitchFamily="34" charset="-122"/>
                <a:cs typeface="Arial" pitchFamily="34" charset="-120"/>
              </a:rPr>
              <a:t>sell a locked position below NAV</a:t>
            </a:r>
            <a:endParaRPr lang="en-US" sz="2100" dirty="0"/>
          </a:p>
        </p:txBody>
      </p:sp>
      <p:sp>
        <p:nvSpPr>
          <p:cNvPr id="30" name="Text 28"/>
          <p:cNvSpPr/>
          <p:nvPr/>
        </p:nvSpPr>
        <p:spPr>
          <a:xfrm>
            <a:off x="9589770" y="7554595"/>
            <a:ext cx="150336" cy="384810"/>
          </a:xfrm>
          <a:prstGeom prst="rect">
            <a:avLst/>
          </a:prstGeom>
          <a:noFill/>
          <a:ln/>
        </p:spPr>
        <p:txBody>
          <a:bodyPr wrap="square" lIns="25400" tIns="25400" rIns="25400" bIns="25400" rtlCol="0" anchor="t">
            <a:normAutofit/>
          </a:bodyPr>
          <a:lstStyle/>
          <a:p>
            <a:pPr marL="0" indent="0" algn="l">
              <a:lnSpc>
                <a:spcPct val="113750"/>
              </a:lnSpc>
              <a:buNone/>
            </a:pPr>
            <a:r>
              <a:rPr lang="en-US" sz="2100" dirty="0">
                <a:solidFill>
                  <a:srgbClr val="4C8DFF"/>
                </a:solidFill>
                <a:latin typeface="Arial" pitchFamily="34" charset="0"/>
                <a:ea typeface="Arial" pitchFamily="34" charset="-122"/>
                <a:cs typeface="Arial" pitchFamily="34" charset="-120"/>
              </a:rPr>
              <a:t>·</a:t>
            </a:r>
            <a:endParaRPr lang="en-US" sz="2100" dirty="0"/>
          </a:p>
        </p:txBody>
      </p:sp>
      <p:sp>
        <p:nvSpPr>
          <p:cNvPr id="31" name="Text 29"/>
          <p:cNvSpPr/>
          <p:nvPr/>
        </p:nvSpPr>
        <p:spPr>
          <a:xfrm>
            <a:off x="9797256" y="7554595"/>
            <a:ext cx="4141057" cy="384810"/>
          </a:xfrm>
          <a:prstGeom prst="rect">
            <a:avLst/>
          </a:prstGeom>
          <a:noFill/>
          <a:ln/>
        </p:spPr>
        <p:txBody>
          <a:bodyPr wrap="square" lIns="25400" tIns="25400" rIns="25400" bIns="25400" rtlCol="0" anchor="t">
            <a:normAutofit/>
          </a:bodyPr>
          <a:lstStyle/>
          <a:p>
            <a:pPr marL="0" indent="0" algn="l">
              <a:lnSpc>
                <a:spcPct val="113750"/>
              </a:lnSpc>
              <a:buNone/>
            </a:pPr>
            <a:r>
              <a:rPr lang="en-US" sz="2100" dirty="0">
                <a:solidFill>
                  <a:srgbClr val="E6EDF3"/>
                </a:solidFill>
                <a:latin typeface="Arial" pitchFamily="34" charset="0"/>
                <a:ea typeface="Arial" pitchFamily="34" charset="-122"/>
                <a:cs typeface="Arial" pitchFamily="34" charset="-120"/>
              </a:rPr>
              <a:t>buyer clears two on-chain gates</a:t>
            </a:r>
            <a:endParaRPr lang="en-US" sz="2100" dirty="0"/>
          </a:p>
        </p:txBody>
      </p:sp>
    </p:spTree>
    <p:extLst>
      <p:ext uri="{BB962C8B-B14F-4D97-AF65-F5344CB8AC3E}">
        <p14:creationId xmlns:p14="http://schemas.microsoft.com/office/powerpoint/2010/main" val="3715934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116"/>
        </a:solidFill>
        <a:effectLst/>
      </p:bgPr>
    </p:bg>
    <p:spTree>
      <p:nvGrpSpPr>
        <p:cNvPr id="1" name=""/>
        <p:cNvGrpSpPr/>
        <p:nvPr/>
      </p:nvGrpSpPr>
      <p:grpSpPr>
        <a:xfrm>
          <a:off x="0" y="0"/>
          <a:ext cx="0" cy="0"/>
          <a:chOff x="0" y="0"/>
          <a:chExt cx="0" cy="0"/>
        </a:xfrm>
      </p:grpSpPr>
      <p:sp>
        <p:nvSpPr>
          <p:cNvPr id="3" name="Text 1"/>
          <p:cNvSpPr/>
          <p:nvPr/>
        </p:nvSpPr>
        <p:spPr>
          <a:xfrm>
            <a:off x="1143000" y="1346200"/>
            <a:ext cx="17602200" cy="758190"/>
          </a:xfrm>
          <a:prstGeom prst="rect">
            <a:avLst/>
          </a:prstGeom>
          <a:noFill/>
          <a:ln/>
        </p:spPr>
        <p:txBody>
          <a:bodyPr wrap="square" lIns="25400" tIns="25400" rIns="25400" bIns="25400" rtlCol="0" anchor="t">
            <a:normAutofit lnSpcReduction="10000"/>
          </a:bodyPr>
          <a:lstStyle/>
          <a:p>
            <a:pPr marL="0" indent="0" algn="l">
              <a:lnSpc>
                <a:spcPct val="93719"/>
              </a:lnSpc>
              <a:buNone/>
            </a:pPr>
            <a:r>
              <a:rPr lang="en-US" sz="5400" b="1" kern="0" spc="-135">
                <a:solidFill>
                  <a:srgbClr val="E6EDF3"/>
                </a:solidFill>
                <a:latin typeface="Arial"/>
                <a:ea typeface="Arial" pitchFamily="34" charset="-122"/>
                <a:cs typeface="Arial"/>
              </a:rPr>
              <a:t>Liquidity marketplace</a:t>
            </a:r>
            <a:endParaRPr lang="en-US" sz="5400">
              <a:latin typeface="Arial"/>
              <a:cs typeface="Arial"/>
            </a:endParaRPr>
          </a:p>
        </p:txBody>
      </p:sp>
      <p:sp>
        <p:nvSpPr>
          <p:cNvPr id="4" name="Shape 2"/>
          <p:cNvSpPr/>
          <p:nvPr/>
        </p:nvSpPr>
        <p:spPr>
          <a:xfrm>
            <a:off x="4061460" y="3712210"/>
            <a:ext cx="3060700" cy="850900"/>
          </a:xfrm>
          <a:prstGeom prst="rect">
            <a:avLst/>
          </a:prstGeom>
          <a:ln w="6350">
            <a:solidFill>
              <a:srgbClr val="4C8DFF"/>
            </a:solidFill>
            <a:prstDash val="solid"/>
          </a:ln>
        </p:spPr>
      </p:sp>
      <p:sp>
        <p:nvSpPr>
          <p:cNvPr id="5" name="Text 3"/>
          <p:cNvSpPr/>
          <p:nvPr/>
        </p:nvSpPr>
        <p:spPr>
          <a:xfrm>
            <a:off x="4021900" y="3718560"/>
            <a:ext cx="3139821" cy="876300"/>
          </a:xfrm>
          <a:prstGeom prst="rect">
            <a:avLst/>
          </a:prstGeom>
          <a:noFill/>
          <a:ln/>
        </p:spPr>
        <p:txBody>
          <a:bodyPr wrap="square" lIns="25400" tIns="25400" rIns="25400" bIns="25400" rtlCol="0" anchor="ctr">
            <a:normAutofit/>
          </a:bodyPr>
          <a:lstStyle/>
          <a:p>
            <a:pPr marL="0" indent="0" algn="ctr">
              <a:buNone/>
            </a:pPr>
            <a:r>
              <a:rPr lang="en-US" sz="2250">
                <a:solidFill>
                  <a:srgbClr val="4C8DFF"/>
                </a:solidFill>
                <a:latin typeface="Arial" pitchFamily="34" charset="0"/>
                <a:ea typeface="Arial" pitchFamily="34" charset="-122"/>
                <a:cs typeface="Arial" pitchFamily="34" charset="-120"/>
              </a:rPr>
              <a:t>Custody</a:t>
            </a:r>
            <a:endParaRPr lang="en-US" sz="2250"/>
          </a:p>
        </p:txBody>
      </p:sp>
      <p:sp>
        <p:nvSpPr>
          <p:cNvPr id="6" name="Text 4"/>
          <p:cNvSpPr/>
          <p:nvPr/>
        </p:nvSpPr>
        <p:spPr>
          <a:xfrm>
            <a:off x="3489960" y="4664710"/>
            <a:ext cx="4191000" cy="355600"/>
          </a:xfrm>
          <a:prstGeom prst="rect">
            <a:avLst/>
          </a:prstGeom>
          <a:noFill/>
          <a:ln/>
        </p:spPr>
        <p:txBody>
          <a:bodyPr wrap="square" lIns="25400" tIns="25400" rIns="25400" bIns="25400" rtlCol="0" anchor="t">
            <a:normAutofit/>
          </a:bodyPr>
          <a:lstStyle/>
          <a:p>
            <a:pPr marL="0" indent="0" algn="ctr">
              <a:buNone/>
            </a:pPr>
            <a:r>
              <a:rPr lang="en-US" sz="1800" dirty="0">
                <a:solidFill>
                  <a:srgbClr val="8B949E"/>
                </a:solidFill>
                <a:latin typeface="Arial"/>
                <a:ea typeface="Arial" pitchFamily="34" charset="-122"/>
                <a:cs typeface="Arial"/>
              </a:rPr>
              <a:t>holds shares only</a:t>
            </a:r>
            <a:endParaRPr lang="en-US" sz="1800" dirty="0">
              <a:latin typeface="Arial"/>
              <a:cs typeface="Arial"/>
            </a:endParaRPr>
          </a:p>
        </p:txBody>
      </p:sp>
      <p:sp>
        <p:nvSpPr>
          <p:cNvPr id="7" name="Shape 5"/>
          <p:cNvSpPr/>
          <p:nvPr/>
        </p:nvSpPr>
        <p:spPr>
          <a:xfrm>
            <a:off x="822960" y="6188710"/>
            <a:ext cx="2870200" cy="850900"/>
          </a:xfrm>
          <a:prstGeom prst="rect">
            <a:avLst/>
          </a:prstGeom>
          <a:ln w="6350">
            <a:solidFill>
              <a:srgbClr val="E6EDF3"/>
            </a:solidFill>
            <a:prstDash val="solid"/>
          </a:ln>
        </p:spPr>
      </p:sp>
      <p:sp>
        <p:nvSpPr>
          <p:cNvPr id="8" name="Text 6"/>
          <p:cNvSpPr/>
          <p:nvPr/>
        </p:nvSpPr>
        <p:spPr>
          <a:xfrm>
            <a:off x="786257" y="6195060"/>
            <a:ext cx="2943606" cy="876300"/>
          </a:xfrm>
          <a:prstGeom prst="rect">
            <a:avLst/>
          </a:prstGeom>
          <a:noFill/>
          <a:ln/>
        </p:spPr>
        <p:txBody>
          <a:bodyPr wrap="square" lIns="25400" tIns="25400" rIns="25400" bIns="25400" rtlCol="0" anchor="ctr">
            <a:normAutofit/>
          </a:bodyPr>
          <a:lstStyle/>
          <a:p>
            <a:pPr marL="0" indent="0" algn="ctr">
              <a:buNone/>
            </a:pPr>
            <a:r>
              <a:rPr lang="en-US" sz="2250">
                <a:solidFill>
                  <a:srgbClr val="E6EDF3"/>
                </a:solidFill>
                <a:latin typeface="Arial" pitchFamily="34" charset="0"/>
                <a:ea typeface="Arial" pitchFamily="34" charset="-122"/>
                <a:cs typeface="Arial" pitchFamily="34" charset="-120"/>
              </a:rPr>
              <a:t>Locked LP</a:t>
            </a:r>
            <a:endParaRPr lang="en-US" sz="2250"/>
          </a:p>
        </p:txBody>
      </p:sp>
      <p:sp>
        <p:nvSpPr>
          <p:cNvPr id="9" name="Shape 7"/>
          <p:cNvSpPr/>
          <p:nvPr/>
        </p:nvSpPr>
        <p:spPr>
          <a:xfrm>
            <a:off x="7490460" y="6188710"/>
            <a:ext cx="2870200" cy="850900"/>
          </a:xfrm>
          <a:prstGeom prst="rect">
            <a:avLst/>
          </a:prstGeom>
          <a:ln w="6350">
            <a:solidFill>
              <a:srgbClr val="E6EDF3"/>
            </a:solidFill>
            <a:prstDash val="solid"/>
          </a:ln>
        </p:spPr>
      </p:sp>
      <p:sp>
        <p:nvSpPr>
          <p:cNvPr id="10" name="Text 8"/>
          <p:cNvSpPr/>
          <p:nvPr/>
        </p:nvSpPr>
        <p:spPr>
          <a:xfrm>
            <a:off x="7453757" y="6195060"/>
            <a:ext cx="2943606" cy="876300"/>
          </a:xfrm>
          <a:prstGeom prst="rect">
            <a:avLst/>
          </a:prstGeom>
          <a:noFill/>
          <a:ln/>
        </p:spPr>
        <p:txBody>
          <a:bodyPr wrap="square" lIns="25400" tIns="25400" rIns="25400" bIns="25400" rtlCol="0" anchor="ctr">
            <a:normAutofit/>
          </a:bodyPr>
          <a:lstStyle/>
          <a:p>
            <a:pPr marL="0" indent="0" algn="ctr">
              <a:buNone/>
            </a:pPr>
            <a:r>
              <a:rPr lang="en-US" sz="2250" dirty="0">
                <a:solidFill>
                  <a:srgbClr val="E6EDF3"/>
                </a:solidFill>
                <a:latin typeface="Arial" pitchFamily="34" charset="0"/>
                <a:ea typeface="Arial" pitchFamily="34" charset="-122"/>
                <a:cs typeface="Arial" pitchFamily="34" charset="-120"/>
              </a:rPr>
              <a:t>Buyer</a:t>
            </a:r>
            <a:endParaRPr lang="en-US" sz="2250" dirty="0"/>
          </a:p>
        </p:txBody>
      </p:sp>
      <p:sp>
        <p:nvSpPr>
          <p:cNvPr id="11" name="Shape 9"/>
          <p:cNvSpPr/>
          <p:nvPr/>
        </p:nvSpPr>
        <p:spPr>
          <a:xfrm>
            <a:off x="2251710" y="4131310"/>
            <a:ext cx="9525" cy="2057400"/>
          </a:xfrm>
          <a:prstGeom prst="rect">
            <a:avLst/>
          </a:prstGeom>
          <a:solidFill>
            <a:srgbClr val="8B949E"/>
          </a:solidFill>
          <a:ln/>
        </p:spPr>
      </p:sp>
      <p:sp>
        <p:nvSpPr>
          <p:cNvPr id="12" name="Shape 10"/>
          <p:cNvSpPr/>
          <p:nvPr/>
        </p:nvSpPr>
        <p:spPr>
          <a:xfrm>
            <a:off x="2251710" y="4131310"/>
            <a:ext cx="1809750" cy="9525"/>
          </a:xfrm>
          <a:prstGeom prst="rect">
            <a:avLst/>
          </a:prstGeom>
          <a:solidFill>
            <a:srgbClr val="8B949E"/>
          </a:solidFill>
          <a:ln/>
        </p:spPr>
      </p:sp>
      <p:sp>
        <p:nvSpPr>
          <p:cNvPr id="13" name="Text 11"/>
          <p:cNvSpPr/>
          <p:nvPr/>
        </p:nvSpPr>
        <p:spPr>
          <a:xfrm>
            <a:off x="3928110" y="4017010"/>
            <a:ext cx="200501" cy="285750"/>
          </a:xfrm>
          <a:prstGeom prst="rect">
            <a:avLst/>
          </a:prstGeom>
          <a:noFill/>
          <a:ln/>
        </p:spPr>
        <p:txBody>
          <a:bodyPr wrap="square" lIns="25400" tIns="25400" rIns="25400" bIns="25400" rtlCol="0" anchor="t">
            <a:normAutofit/>
          </a:bodyPr>
          <a:lstStyle/>
          <a:p>
            <a:pPr marL="0" indent="0" algn="l">
              <a:lnSpc>
                <a:spcPct val="86667"/>
              </a:lnSpc>
              <a:buNone/>
            </a:pPr>
            <a:r>
              <a:rPr lang="en-US" sz="1950" dirty="0">
                <a:solidFill>
                  <a:srgbClr val="8B949E"/>
                </a:solidFill>
                <a:latin typeface="Arial" pitchFamily="34" charset="0"/>
                <a:ea typeface="Arial" pitchFamily="34" charset="-122"/>
                <a:cs typeface="Arial" pitchFamily="34" charset="-120"/>
              </a:rPr>
              <a:t>▸</a:t>
            </a:r>
            <a:endParaRPr lang="en-US" sz="1950" dirty="0"/>
          </a:p>
        </p:txBody>
      </p:sp>
      <p:sp>
        <p:nvSpPr>
          <p:cNvPr id="14" name="Text 12"/>
          <p:cNvSpPr/>
          <p:nvPr/>
        </p:nvSpPr>
        <p:spPr>
          <a:xfrm>
            <a:off x="2442210" y="3769360"/>
            <a:ext cx="762476" cy="355600"/>
          </a:xfrm>
          <a:prstGeom prst="rect">
            <a:avLst/>
          </a:prstGeom>
          <a:noFill/>
          <a:ln/>
        </p:spPr>
        <p:txBody>
          <a:bodyPr wrap="square" lIns="25400" tIns="25400" rIns="25400" bIns="25400" rtlCol="0" anchor="t">
            <a:normAutofit fontScale="85000" lnSpcReduction="10000"/>
          </a:bodyPr>
          <a:lstStyle/>
          <a:p>
            <a:pPr marL="0" indent="0" algn="l">
              <a:buNone/>
            </a:pPr>
            <a:r>
              <a:rPr lang="en-US" dirty="0">
                <a:solidFill>
                  <a:srgbClr val="8B949E"/>
                </a:solidFill>
                <a:latin typeface="Arial"/>
                <a:cs typeface="Arial"/>
              </a:rPr>
              <a:t>Deposit</a:t>
            </a:r>
            <a:endParaRPr lang="en-US" dirty="0"/>
          </a:p>
        </p:txBody>
      </p:sp>
      <p:sp>
        <p:nvSpPr>
          <p:cNvPr id="15" name="Shape 13"/>
          <p:cNvSpPr/>
          <p:nvPr/>
        </p:nvSpPr>
        <p:spPr>
          <a:xfrm>
            <a:off x="7109460" y="4131310"/>
            <a:ext cx="1809750" cy="9525"/>
          </a:xfrm>
          <a:prstGeom prst="rect">
            <a:avLst/>
          </a:prstGeom>
          <a:solidFill>
            <a:srgbClr val="4C8DFF"/>
          </a:solidFill>
          <a:ln/>
        </p:spPr>
      </p:sp>
      <p:sp>
        <p:nvSpPr>
          <p:cNvPr id="16" name="Shape 14"/>
          <p:cNvSpPr/>
          <p:nvPr/>
        </p:nvSpPr>
        <p:spPr>
          <a:xfrm>
            <a:off x="8919210" y="4131310"/>
            <a:ext cx="9525" cy="2057400"/>
          </a:xfrm>
          <a:prstGeom prst="rect">
            <a:avLst/>
          </a:prstGeom>
          <a:solidFill>
            <a:srgbClr val="4C8DFF"/>
          </a:solidFill>
          <a:ln/>
        </p:spPr>
      </p:sp>
      <p:sp>
        <p:nvSpPr>
          <p:cNvPr id="17" name="Text 15"/>
          <p:cNvSpPr/>
          <p:nvPr/>
        </p:nvSpPr>
        <p:spPr>
          <a:xfrm>
            <a:off x="8804910" y="6074410"/>
            <a:ext cx="200501" cy="285750"/>
          </a:xfrm>
          <a:prstGeom prst="rect">
            <a:avLst/>
          </a:prstGeom>
          <a:noFill/>
          <a:ln/>
        </p:spPr>
        <p:txBody>
          <a:bodyPr wrap="square" lIns="25400" tIns="25400" rIns="25400" bIns="25400" rtlCol="0" anchor="t">
            <a:normAutofit/>
          </a:bodyPr>
          <a:lstStyle/>
          <a:p>
            <a:pPr marL="0" indent="0" algn="l">
              <a:lnSpc>
                <a:spcPct val="86667"/>
              </a:lnSpc>
              <a:buNone/>
            </a:pPr>
            <a:r>
              <a:rPr lang="en-US" sz="1950" dirty="0">
                <a:solidFill>
                  <a:srgbClr val="4C8DFF"/>
                </a:solidFill>
                <a:latin typeface="Arial" pitchFamily="34" charset="0"/>
                <a:ea typeface="Arial" pitchFamily="34" charset="-122"/>
                <a:cs typeface="Arial" pitchFamily="34" charset="-120"/>
              </a:rPr>
              <a:t>▾</a:t>
            </a:r>
            <a:endParaRPr lang="en-US" sz="1950" dirty="0"/>
          </a:p>
        </p:txBody>
      </p:sp>
      <p:sp>
        <p:nvSpPr>
          <p:cNvPr id="18" name="Text 16"/>
          <p:cNvSpPr/>
          <p:nvPr/>
        </p:nvSpPr>
        <p:spPr>
          <a:xfrm>
            <a:off x="7490460" y="3769360"/>
            <a:ext cx="2943225" cy="673100"/>
          </a:xfrm>
          <a:prstGeom prst="rect">
            <a:avLst/>
          </a:prstGeom>
          <a:noFill/>
          <a:ln/>
        </p:spPr>
        <p:txBody>
          <a:bodyPr wrap="square" lIns="25400" tIns="25400" rIns="25400" bIns="25400" rtlCol="0" anchor="t">
            <a:normAutofit/>
          </a:bodyPr>
          <a:lstStyle/>
          <a:p>
            <a:pPr marL="0" indent="0" algn="l">
              <a:buNone/>
            </a:pPr>
            <a:r>
              <a:rPr lang="en-US" sz="1800" dirty="0">
                <a:solidFill>
                  <a:srgbClr val="4C8DFF"/>
                </a:solidFill>
                <a:latin typeface="Arial" pitchFamily="34" charset="0"/>
                <a:ea typeface="Arial" pitchFamily="34" charset="-122"/>
                <a:cs typeface="Arial" pitchFamily="34" charset="-120"/>
              </a:rPr>
              <a:t>released after payment clears</a:t>
            </a:r>
            <a:endParaRPr lang="en-US" sz="1800" dirty="0"/>
          </a:p>
        </p:txBody>
      </p:sp>
      <p:sp>
        <p:nvSpPr>
          <p:cNvPr id="22" name="Shape 20"/>
          <p:cNvSpPr/>
          <p:nvPr/>
        </p:nvSpPr>
        <p:spPr>
          <a:xfrm>
            <a:off x="11049000" y="2523490"/>
            <a:ext cx="9525" cy="6626860"/>
          </a:xfrm>
          <a:prstGeom prst="rect">
            <a:avLst/>
          </a:prstGeom>
          <a:solidFill>
            <a:srgbClr val="262D36"/>
          </a:solidFill>
          <a:ln/>
        </p:spPr>
      </p:sp>
      <p:sp>
        <p:nvSpPr>
          <p:cNvPr id="23" name="Text 21"/>
          <p:cNvSpPr/>
          <p:nvPr/>
        </p:nvSpPr>
        <p:spPr>
          <a:xfrm>
            <a:off x="11798300" y="3788410"/>
            <a:ext cx="5565965" cy="752475"/>
          </a:xfrm>
          <a:prstGeom prst="rect">
            <a:avLst/>
          </a:prstGeom>
          <a:noFill/>
          <a:ln/>
        </p:spPr>
        <p:txBody>
          <a:bodyPr wrap="square" lIns="25400" tIns="25400" rIns="25400" bIns="25400" rtlCol="0" anchor="t">
            <a:normAutofit/>
          </a:bodyPr>
          <a:lstStyle/>
          <a:p>
            <a:pPr marL="0" indent="0" algn="l">
              <a:lnSpc>
                <a:spcPct val="110294"/>
              </a:lnSpc>
              <a:buNone/>
            </a:pPr>
            <a:r>
              <a:rPr lang="en-US" sz="2250" b="1">
                <a:solidFill>
                  <a:srgbClr val="E6EDF3"/>
                </a:solidFill>
                <a:latin typeface="Arial" pitchFamily="34" charset="0"/>
                <a:ea typeface="Arial" pitchFamily="34" charset="-122"/>
                <a:cs typeface="Arial" pitchFamily="34" charset="-120"/>
              </a:rPr>
              <a:t>Two gates. Neither implies the other.</a:t>
            </a:r>
            <a:endParaRPr lang="en-US" sz="2250"/>
          </a:p>
        </p:txBody>
      </p:sp>
      <p:sp>
        <p:nvSpPr>
          <p:cNvPr id="24" name="Text 22"/>
          <p:cNvSpPr/>
          <p:nvPr/>
        </p:nvSpPr>
        <p:spPr>
          <a:xfrm>
            <a:off x="11798300" y="4788535"/>
            <a:ext cx="325596" cy="398145"/>
          </a:xfrm>
          <a:prstGeom prst="rect">
            <a:avLst/>
          </a:prstGeom>
          <a:noFill/>
          <a:ln/>
        </p:spPr>
        <p:txBody>
          <a:bodyPr wrap="square" lIns="25400" tIns="25400" rIns="25400" bIns="25400" rtlCol="0" anchor="t">
            <a:normAutofit/>
          </a:bodyPr>
          <a:lstStyle/>
          <a:p>
            <a:pPr marL="0" indent="0" algn="l">
              <a:lnSpc>
                <a:spcPct val="118125"/>
              </a:lnSpc>
              <a:buNone/>
            </a:pPr>
            <a:r>
              <a:rPr lang="en-US" sz="2100">
                <a:solidFill>
                  <a:srgbClr val="4C8DFF"/>
                </a:solidFill>
                <a:latin typeface="Arial" pitchFamily="34" charset="0"/>
                <a:ea typeface="Arial" pitchFamily="34" charset="-122"/>
                <a:cs typeface="Arial" pitchFamily="34" charset="-120"/>
              </a:rPr>
              <a:t>①</a:t>
            </a:r>
            <a:endParaRPr lang="en-US" sz="2100"/>
          </a:p>
        </p:txBody>
      </p:sp>
      <p:sp>
        <p:nvSpPr>
          <p:cNvPr id="25" name="Text 23"/>
          <p:cNvSpPr/>
          <p:nvPr/>
        </p:nvSpPr>
        <p:spPr>
          <a:xfrm>
            <a:off x="12238196" y="4788535"/>
            <a:ext cx="4222956" cy="398145"/>
          </a:xfrm>
          <a:prstGeom prst="rect">
            <a:avLst/>
          </a:prstGeom>
          <a:noFill/>
          <a:ln/>
        </p:spPr>
        <p:txBody>
          <a:bodyPr wrap="square" lIns="25400" tIns="25400" rIns="25400" bIns="25400" rtlCol="0" anchor="t">
            <a:normAutofit/>
          </a:bodyPr>
          <a:lstStyle/>
          <a:p>
            <a:pPr marL="0" indent="0" algn="l">
              <a:lnSpc>
                <a:spcPct val="118125"/>
              </a:lnSpc>
              <a:buNone/>
            </a:pPr>
            <a:r>
              <a:rPr lang="en-US" sz="2100">
                <a:solidFill>
                  <a:srgbClr val="E6EDF3"/>
                </a:solidFill>
                <a:latin typeface="Arial" pitchFamily="34" charset="0"/>
                <a:ea typeface="Arial" pitchFamily="34" charset="-122"/>
                <a:cs typeface="Arial" pitchFamily="34" charset="-120"/>
              </a:rPr>
              <a:t>a credential in the fund’s domain</a:t>
            </a:r>
            <a:endParaRPr lang="en-US" sz="2100"/>
          </a:p>
        </p:txBody>
      </p:sp>
      <p:sp>
        <p:nvSpPr>
          <p:cNvPr id="26" name="Text 24"/>
          <p:cNvSpPr/>
          <p:nvPr/>
        </p:nvSpPr>
        <p:spPr>
          <a:xfrm>
            <a:off x="11798300" y="5434330"/>
            <a:ext cx="325596" cy="398145"/>
          </a:xfrm>
          <a:prstGeom prst="rect">
            <a:avLst/>
          </a:prstGeom>
          <a:noFill/>
          <a:ln/>
        </p:spPr>
        <p:txBody>
          <a:bodyPr wrap="square" lIns="25400" tIns="25400" rIns="25400" bIns="25400" rtlCol="0" anchor="t">
            <a:normAutofit/>
          </a:bodyPr>
          <a:lstStyle/>
          <a:p>
            <a:pPr marL="0" indent="0" algn="l">
              <a:lnSpc>
                <a:spcPct val="118125"/>
              </a:lnSpc>
              <a:buNone/>
            </a:pPr>
            <a:r>
              <a:rPr lang="en-US" sz="2100">
                <a:solidFill>
                  <a:srgbClr val="4C8DFF"/>
                </a:solidFill>
                <a:latin typeface="Arial" pitchFamily="34" charset="0"/>
                <a:ea typeface="Arial" pitchFamily="34" charset="-122"/>
                <a:cs typeface="Arial" pitchFamily="34" charset="-120"/>
              </a:rPr>
              <a:t>②</a:t>
            </a:r>
            <a:endParaRPr lang="en-US" sz="2100"/>
          </a:p>
        </p:txBody>
      </p:sp>
      <p:sp>
        <p:nvSpPr>
          <p:cNvPr id="27" name="Text 25"/>
          <p:cNvSpPr/>
          <p:nvPr/>
        </p:nvSpPr>
        <p:spPr>
          <a:xfrm>
            <a:off x="12238196" y="5434330"/>
            <a:ext cx="4434951" cy="398145"/>
          </a:xfrm>
          <a:prstGeom prst="rect">
            <a:avLst/>
          </a:prstGeom>
          <a:noFill/>
          <a:ln/>
        </p:spPr>
        <p:txBody>
          <a:bodyPr wrap="square" lIns="25400" tIns="25400" rIns="25400" bIns="25400" rtlCol="0" anchor="t">
            <a:normAutofit/>
          </a:bodyPr>
          <a:lstStyle/>
          <a:p>
            <a:pPr marL="0" indent="0" algn="l">
              <a:lnSpc>
                <a:spcPct val="118125"/>
              </a:lnSpc>
              <a:buNone/>
            </a:pPr>
            <a:r>
              <a:rPr lang="en-US" sz="2100">
                <a:solidFill>
                  <a:srgbClr val="E6EDF3"/>
                </a:solidFill>
                <a:latin typeface="Arial" pitchFamily="34" charset="0"/>
                <a:ea typeface="Arial" pitchFamily="34" charset="-122"/>
                <a:cs typeface="Arial" pitchFamily="34" charset="-120"/>
              </a:rPr>
              <a:t>their own opt-in to the share token</a:t>
            </a:r>
            <a:endParaRPr lang="en-US" sz="2100"/>
          </a:p>
        </p:txBody>
      </p:sp>
      <p:sp>
        <p:nvSpPr>
          <p:cNvPr id="28" name="Shape 26"/>
          <p:cNvSpPr/>
          <p:nvPr/>
        </p:nvSpPr>
        <p:spPr>
          <a:xfrm>
            <a:off x="11798300" y="6080125"/>
            <a:ext cx="5403850" cy="9525"/>
          </a:xfrm>
          <a:prstGeom prst="rect">
            <a:avLst/>
          </a:prstGeom>
          <a:solidFill>
            <a:srgbClr val="262D36"/>
          </a:solidFill>
          <a:ln/>
        </p:spPr>
      </p:sp>
      <p:sp>
        <p:nvSpPr>
          <p:cNvPr id="40" name="Text 18">
            <a:extLst>
              <a:ext uri="{FF2B5EF4-FFF2-40B4-BE49-F238E27FC236}">
                <a16:creationId xmlns:a16="http://schemas.microsoft.com/office/drawing/2014/main" id="{A650E0BC-3903-1426-E24B-FF95E8E9BB13}"/>
              </a:ext>
            </a:extLst>
          </p:cNvPr>
          <p:cNvSpPr/>
          <p:nvPr/>
        </p:nvSpPr>
        <p:spPr>
          <a:xfrm>
            <a:off x="3779520" y="6516370"/>
            <a:ext cx="200501" cy="285750"/>
          </a:xfrm>
          <a:prstGeom prst="rect">
            <a:avLst/>
          </a:prstGeom>
          <a:noFill/>
          <a:ln/>
        </p:spPr>
        <p:txBody>
          <a:bodyPr wrap="square" lIns="25400" tIns="25400" rIns="25400" bIns="2540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6667"/>
              </a:lnSpc>
              <a:buNone/>
            </a:pPr>
            <a:r>
              <a:rPr lang="en-US" sz="1950" dirty="0">
                <a:solidFill>
                  <a:srgbClr val="8B949E"/>
                </a:solidFill>
                <a:latin typeface="Arial" pitchFamily="34" charset="0"/>
                <a:ea typeface="Arial" pitchFamily="34" charset="-122"/>
                <a:cs typeface="Arial" pitchFamily="34" charset="-120"/>
              </a:rPr>
              <a:t>◂</a:t>
            </a:r>
            <a:endParaRPr lang="en-US" sz="1950" dirty="0"/>
          </a:p>
        </p:txBody>
      </p:sp>
      <p:sp>
        <p:nvSpPr>
          <p:cNvPr id="41" name="Text 19">
            <a:extLst>
              <a:ext uri="{FF2B5EF4-FFF2-40B4-BE49-F238E27FC236}">
                <a16:creationId xmlns:a16="http://schemas.microsoft.com/office/drawing/2014/main" id="{F82255CB-9E3E-82E4-E655-99D4CB56B9F7}"/>
              </a:ext>
            </a:extLst>
          </p:cNvPr>
          <p:cNvSpPr/>
          <p:nvPr/>
        </p:nvSpPr>
        <p:spPr>
          <a:xfrm>
            <a:off x="3569970" y="6230620"/>
            <a:ext cx="4191000" cy="355600"/>
          </a:xfrm>
          <a:prstGeom prst="rect">
            <a:avLst/>
          </a:prstGeom>
          <a:noFill/>
          <a:ln/>
        </p:spPr>
        <p:txBody>
          <a:bodyPr wrap="square" lIns="25400" tIns="25400" rIns="25400" bIns="2540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dirty="0">
                <a:solidFill>
                  <a:srgbClr val="8B949E"/>
                </a:solidFill>
                <a:latin typeface="Arial" pitchFamily="34" charset="0"/>
                <a:ea typeface="Arial" pitchFamily="34" charset="-122"/>
                <a:cs typeface="Arial" pitchFamily="34" charset="-120"/>
              </a:rPr>
              <a:t>XRP, direct to the seller</a:t>
            </a:r>
            <a:endParaRPr lang="en-US" sz="1800" dirty="0"/>
          </a:p>
        </p:txBody>
      </p:sp>
      <p:sp>
        <p:nvSpPr>
          <p:cNvPr id="42" name="Shape 10">
            <a:extLst>
              <a:ext uri="{FF2B5EF4-FFF2-40B4-BE49-F238E27FC236}">
                <a16:creationId xmlns:a16="http://schemas.microsoft.com/office/drawing/2014/main" id="{922FC6B7-DFA0-DC91-083A-F1ED384B85C8}"/>
              </a:ext>
            </a:extLst>
          </p:cNvPr>
          <p:cNvSpPr/>
          <p:nvPr/>
        </p:nvSpPr>
        <p:spPr>
          <a:xfrm>
            <a:off x="4126230" y="6645909"/>
            <a:ext cx="3078480" cy="32385"/>
          </a:xfrm>
          <a:prstGeom prst="rect">
            <a:avLst/>
          </a:prstGeom>
          <a:solidFill>
            <a:srgbClr val="8B949E"/>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116"/>
        </a:solidFill>
        <a:effectLst/>
      </p:bgPr>
    </p:bg>
    <p:spTree>
      <p:nvGrpSpPr>
        <p:cNvPr id="1" name=""/>
        <p:cNvGrpSpPr/>
        <p:nvPr/>
      </p:nvGrpSpPr>
      <p:grpSpPr>
        <a:xfrm>
          <a:off x="0" y="0"/>
          <a:ext cx="0" cy="0"/>
          <a:chOff x="0" y="0"/>
          <a:chExt cx="0" cy="0"/>
        </a:xfrm>
      </p:grpSpPr>
      <p:sp>
        <p:nvSpPr>
          <p:cNvPr id="3" name="Text 1"/>
          <p:cNvSpPr/>
          <p:nvPr/>
        </p:nvSpPr>
        <p:spPr>
          <a:xfrm>
            <a:off x="1143000" y="1346200"/>
            <a:ext cx="17602200" cy="758190"/>
          </a:xfrm>
          <a:prstGeom prst="rect">
            <a:avLst/>
          </a:prstGeom>
          <a:noFill/>
          <a:ln/>
        </p:spPr>
        <p:txBody>
          <a:bodyPr wrap="square" lIns="25400" tIns="25400" rIns="25400" bIns="25400" rtlCol="0" anchor="t">
            <a:normAutofit lnSpcReduction="10000"/>
          </a:bodyPr>
          <a:lstStyle/>
          <a:p>
            <a:pPr marL="0" indent="0" algn="l">
              <a:lnSpc>
                <a:spcPct val="93719"/>
              </a:lnSpc>
              <a:buNone/>
            </a:pPr>
            <a:r>
              <a:rPr lang="en-US" sz="5400" b="1" kern="0" spc="-135">
                <a:solidFill>
                  <a:srgbClr val="E6EDF3"/>
                </a:solidFill>
                <a:latin typeface="Arial"/>
                <a:ea typeface="Arial" pitchFamily="34" charset="-122"/>
                <a:cs typeface="Arial"/>
              </a:rPr>
              <a:t>How the </a:t>
            </a:r>
            <a:r>
              <a:rPr lang="en-US" sz="5400" b="1" kern="0" spc="-135" err="1">
                <a:solidFill>
                  <a:srgbClr val="E6EDF3"/>
                </a:solidFill>
                <a:latin typeface="Arial"/>
                <a:ea typeface="Arial" pitchFamily="34" charset="-122"/>
                <a:cs typeface="Arial"/>
              </a:rPr>
              <a:t>SuperVault</a:t>
            </a:r>
            <a:r>
              <a:rPr lang="en-US" sz="5400" b="1" kern="0" spc="-135">
                <a:solidFill>
                  <a:srgbClr val="E6EDF3"/>
                </a:solidFill>
                <a:latin typeface="Arial"/>
                <a:ea typeface="Arial" pitchFamily="34" charset="-122"/>
                <a:cs typeface="Arial"/>
              </a:rPr>
              <a:t> works</a:t>
            </a:r>
            <a:endParaRPr lang="en-US" sz="5400">
              <a:latin typeface="Arial"/>
              <a:cs typeface="Arial"/>
            </a:endParaRPr>
          </a:p>
        </p:txBody>
      </p:sp>
      <p:sp>
        <p:nvSpPr>
          <p:cNvPr id="4" name="Text 2"/>
          <p:cNvSpPr/>
          <p:nvPr/>
        </p:nvSpPr>
        <p:spPr>
          <a:xfrm>
            <a:off x="1234440" y="3845560"/>
            <a:ext cx="3143250" cy="438150"/>
          </a:xfrm>
          <a:prstGeom prst="rect">
            <a:avLst/>
          </a:prstGeom>
          <a:noFill/>
          <a:ln/>
        </p:spPr>
        <p:txBody>
          <a:bodyPr wrap="square" lIns="25400" tIns="25400" rIns="25400" bIns="25400" rtlCol="0" anchor="t">
            <a:normAutofit/>
          </a:bodyPr>
          <a:lstStyle/>
          <a:p>
            <a:pPr marL="0" indent="0" algn="r">
              <a:buNone/>
            </a:pPr>
            <a:r>
              <a:rPr lang="en-US" sz="2250">
                <a:solidFill>
                  <a:srgbClr val="8B949E"/>
                </a:solidFill>
                <a:latin typeface="Arial" pitchFamily="34" charset="0"/>
                <a:ea typeface="Arial" pitchFamily="34" charset="-122"/>
                <a:cs typeface="Arial" pitchFamily="34" charset="-120"/>
              </a:rPr>
              <a:t>investors</a:t>
            </a:r>
            <a:endParaRPr lang="en-US" sz="2250"/>
          </a:p>
        </p:txBody>
      </p:sp>
      <p:sp>
        <p:nvSpPr>
          <p:cNvPr id="5" name="Text 3"/>
          <p:cNvSpPr/>
          <p:nvPr/>
        </p:nvSpPr>
        <p:spPr>
          <a:xfrm>
            <a:off x="4577715" y="3693160"/>
            <a:ext cx="1885950" cy="355600"/>
          </a:xfrm>
          <a:prstGeom prst="rect">
            <a:avLst/>
          </a:prstGeom>
          <a:noFill/>
          <a:ln/>
        </p:spPr>
        <p:txBody>
          <a:bodyPr wrap="square" lIns="25400" tIns="25400" rIns="25400" bIns="25400" rtlCol="0" anchor="t">
            <a:normAutofit/>
          </a:bodyPr>
          <a:lstStyle/>
          <a:p>
            <a:pPr marL="0" indent="0" algn="ctr">
              <a:buNone/>
            </a:pPr>
            <a:r>
              <a:rPr lang="en-US" sz="1800">
                <a:solidFill>
                  <a:srgbClr val="8B949E"/>
                </a:solidFill>
                <a:latin typeface="Arial" pitchFamily="34" charset="0"/>
                <a:ea typeface="Arial" pitchFamily="34" charset="-122"/>
                <a:cs typeface="Arial" pitchFamily="34" charset="-120"/>
              </a:rPr>
              <a:t>deposit</a:t>
            </a:r>
            <a:endParaRPr lang="en-US" sz="1800"/>
          </a:p>
        </p:txBody>
      </p:sp>
      <p:sp>
        <p:nvSpPr>
          <p:cNvPr id="6" name="Shape 4"/>
          <p:cNvSpPr/>
          <p:nvPr/>
        </p:nvSpPr>
        <p:spPr>
          <a:xfrm>
            <a:off x="4663440" y="4007485"/>
            <a:ext cx="1714500" cy="9525"/>
          </a:xfrm>
          <a:prstGeom prst="rect">
            <a:avLst/>
          </a:prstGeom>
          <a:solidFill>
            <a:srgbClr val="8B949E"/>
          </a:solidFill>
          <a:ln/>
        </p:spPr>
      </p:sp>
      <p:sp>
        <p:nvSpPr>
          <p:cNvPr id="7" name="Text 5"/>
          <p:cNvSpPr/>
          <p:nvPr/>
        </p:nvSpPr>
        <p:spPr>
          <a:xfrm>
            <a:off x="6282690" y="3893185"/>
            <a:ext cx="200501" cy="285750"/>
          </a:xfrm>
          <a:prstGeom prst="rect">
            <a:avLst/>
          </a:prstGeom>
          <a:noFill/>
          <a:ln/>
        </p:spPr>
        <p:txBody>
          <a:bodyPr wrap="square" lIns="25400" tIns="25400" rIns="25400" bIns="25400" rtlCol="0" anchor="t">
            <a:normAutofit/>
          </a:bodyPr>
          <a:lstStyle/>
          <a:p>
            <a:pPr marL="0" indent="0" algn="l">
              <a:lnSpc>
                <a:spcPct val="86667"/>
              </a:lnSpc>
              <a:buNone/>
            </a:pPr>
            <a:r>
              <a:rPr lang="en-US" sz="1950">
                <a:solidFill>
                  <a:srgbClr val="8B949E"/>
                </a:solidFill>
                <a:latin typeface="Arial" pitchFamily="34" charset="0"/>
                <a:ea typeface="Arial" pitchFamily="34" charset="-122"/>
                <a:cs typeface="Arial" pitchFamily="34" charset="-120"/>
              </a:rPr>
              <a:t>▸</a:t>
            </a:r>
            <a:endParaRPr lang="en-US" sz="1950"/>
          </a:p>
        </p:txBody>
      </p:sp>
      <p:sp>
        <p:nvSpPr>
          <p:cNvPr id="8" name="Shape 6"/>
          <p:cNvSpPr/>
          <p:nvPr/>
        </p:nvSpPr>
        <p:spPr>
          <a:xfrm>
            <a:off x="6473190" y="3597910"/>
            <a:ext cx="2679700" cy="850900"/>
          </a:xfrm>
          <a:prstGeom prst="rect">
            <a:avLst/>
          </a:prstGeom>
          <a:ln w="6350">
            <a:solidFill>
              <a:srgbClr val="E6EDF3"/>
            </a:solidFill>
            <a:prstDash val="solid"/>
          </a:ln>
        </p:spPr>
      </p:sp>
      <p:sp>
        <p:nvSpPr>
          <p:cNvPr id="9" name="Text 7"/>
          <p:cNvSpPr/>
          <p:nvPr/>
        </p:nvSpPr>
        <p:spPr>
          <a:xfrm>
            <a:off x="6439345" y="3604260"/>
            <a:ext cx="2747391" cy="876300"/>
          </a:xfrm>
          <a:prstGeom prst="rect">
            <a:avLst/>
          </a:prstGeom>
          <a:noFill/>
          <a:ln/>
        </p:spPr>
        <p:txBody>
          <a:bodyPr wrap="square" lIns="25400" tIns="25400" rIns="25400" bIns="25400" rtlCol="0" anchor="ctr">
            <a:normAutofit/>
          </a:bodyPr>
          <a:lstStyle/>
          <a:p>
            <a:pPr marL="0" indent="0" algn="ctr">
              <a:buNone/>
            </a:pPr>
            <a:r>
              <a:rPr lang="en-US" sz="2250" err="1">
                <a:solidFill>
                  <a:srgbClr val="E6EDF3"/>
                </a:solidFill>
                <a:latin typeface="Arial"/>
                <a:cs typeface="Arial"/>
              </a:rPr>
              <a:t>SuperVault</a:t>
            </a:r>
            <a:endParaRPr lang="en-US" err="1"/>
          </a:p>
        </p:txBody>
      </p:sp>
      <p:sp>
        <p:nvSpPr>
          <p:cNvPr id="10" name="Shape 8"/>
          <p:cNvSpPr/>
          <p:nvPr/>
        </p:nvSpPr>
        <p:spPr>
          <a:xfrm>
            <a:off x="7806690" y="4436110"/>
            <a:ext cx="9525" cy="895350"/>
          </a:xfrm>
          <a:prstGeom prst="rect">
            <a:avLst/>
          </a:prstGeom>
          <a:solidFill>
            <a:srgbClr val="4C8DFF"/>
          </a:solidFill>
          <a:ln/>
        </p:spPr>
      </p:sp>
      <p:sp>
        <p:nvSpPr>
          <p:cNvPr id="11" name="Text 9"/>
          <p:cNvSpPr/>
          <p:nvPr/>
        </p:nvSpPr>
        <p:spPr>
          <a:xfrm>
            <a:off x="7692390" y="5198110"/>
            <a:ext cx="200501" cy="285750"/>
          </a:xfrm>
          <a:prstGeom prst="rect">
            <a:avLst/>
          </a:prstGeom>
          <a:noFill/>
          <a:ln/>
        </p:spPr>
        <p:txBody>
          <a:bodyPr wrap="square" lIns="25400" tIns="25400" rIns="25400" bIns="25400" rtlCol="0" anchor="t">
            <a:normAutofit/>
          </a:bodyPr>
          <a:lstStyle/>
          <a:p>
            <a:pPr marL="0" indent="0" algn="l">
              <a:lnSpc>
                <a:spcPct val="86667"/>
              </a:lnSpc>
              <a:buNone/>
            </a:pPr>
            <a:r>
              <a:rPr lang="en-US" sz="1950">
                <a:solidFill>
                  <a:srgbClr val="4C8DFF"/>
                </a:solidFill>
                <a:latin typeface="Arial" pitchFamily="34" charset="0"/>
                <a:ea typeface="Arial" pitchFamily="34" charset="-122"/>
                <a:cs typeface="Arial" pitchFamily="34" charset="-120"/>
              </a:rPr>
              <a:t>▾</a:t>
            </a:r>
            <a:endParaRPr lang="en-US" sz="1950"/>
          </a:p>
        </p:txBody>
      </p:sp>
      <p:sp>
        <p:nvSpPr>
          <p:cNvPr id="12" name="Text 10"/>
          <p:cNvSpPr/>
          <p:nvPr/>
        </p:nvSpPr>
        <p:spPr>
          <a:xfrm>
            <a:off x="8092440" y="4740910"/>
            <a:ext cx="1635712" cy="355600"/>
          </a:xfrm>
          <a:prstGeom prst="rect">
            <a:avLst/>
          </a:prstGeom>
          <a:noFill/>
          <a:ln/>
        </p:spPr>
        <p:txBody>
          <a:bodyPr wrap="square" lIns="25400" tIns="25400" rIns="25400" bIns="25400" rtlCol="0" anchor="t">
            <a:normAutofit/>
          </a:bodyPr>
          <a:lstStyle/>
          <a:p>
            <a:pPr marL="0" indent="0" algn="l">
              <a:buNone/>
            </a:pPr>
            <a:r>
              <a:rPr lang="en-US" sz="1800">
                <a:solidFill>
                  <a:srgbClr val="4C8DFF"/>
                </a:solidFill>
                <a:latin typeface="Arial" pitchFamily="34" charset="0"/>
                <a:ea typeface="Arial" pitchFamily="34" charset="-122"/>
                <a:cs typeface="Arial" pitchFamily="34" charset="-120"/>
              </a:rPr>
              <a:t>lends the raise</a:t>
            </a:r>
            <a:endParaRPr lang="en-US" sz="1800"/>
          </a:p>
        </p:txBody>
      </p:sp>
      <p:sp>
        <p:nvSpPr>
          <p:cNvPr id="14" name="Shape 12"/>
          <p:cNvSpPr/>
          <p:nvPr/>
        </p:nvSpPr>
        <p:spPr>
          <a:xfrm>
            <a:off x="6473190" y="5388610"/>
            <a:ext cx="2679700" cy="850900"/>
          </a:xfrm>
          <a:prstGeom prst="rect">
            <a:avLst/>
          </a:prstGeom>
          <a:ln w="6350">
            <a:solidFill>
              <a:srgbClr val="4C8DFF"/>
            </a:solidFill>
            <a:prstDash val="solid"/>
          </a:ln>
        </p:spPr>
      </p:sp>
      <p:sp>
        <p:nvSpPr>
          <p:cNvPr id="15" name="Text 13"/>
          <p:cNvSpPr/>
          <p:nvPr/>
        </p:nvSpPr>
        <p:spPr>
          <a:xfrm>
            <a:off x="6439345" y="5394960"/>
            <a:ext cx="2747391" cy="876300"/>
          </a:xfrm>
          <a:prstGeom prst="rect">
            <a:avLst/>
          </a:prstGeom>
          <a:noFill/>
          <a:ln/>
        </p:spPr>
        <p:txBody>
          <a:bodyPr wrap="square" lIns="25400" tIns="25400" rIns="25400" bIns="25400" rtlCol="0" anchor="ctr">
            <a:normAutofit/>
          </a:bodyPr>
          <a:lstStyle/>
          <a:p>
            <a:pPr marL="0" indent="0" algn="ctr">
              <a:buNone/>
            </a:pPr>
            <a:r>
              <a:rPr lang="en-US" sz="2250">
                <a:solidFill>
                  <a:srgbClr val="4C8DFF"/>
                </a:solidFill>
                <a:latin typeface="Arial" pitchFamily="34" charset="0"/>
                <a:ea typeface="Arial" pitchFamily="34" charset="-122"/>
                <a:cs typeface="Arial" pitchFamily="34" charset="-120"/>
              </a:rPr>
              <a:t>Borrowing account</a:t>
            </a:r>
            <a:endParaRPr lang="en-US" sz="2250"/>
          </a:p>
        </p:txBody>
      </p:sp>
      <p:sp>
        <p:nvSpPr>
          <p:cNvPr id="16" name="Shape 14"/>
          <p:cNvSpPr/>
          <p:nvPr/>
        </p:nvSpPr>
        <p:spPr>
          <a:xfrm>
            <a:off x="7806690" y="6226810"/>
            <a:ext cx="9525" cy="438150"/>
          </a:xfrm>
          <a:prstGeom prst="rect">
            <a:avLst/>
          </a:prstGeom>
          <a:solidFill>
            <a:srgbClr val="262D36"/>
          </a:solidFill>
          <a:ln/>
        </p:spPr>
      </p:sp>
      <p:sp>
        <p:nvSpPr>
          <p:cNvPr id="17" name="Shape 15"/>
          <p:cNvSpPr/>
          <p:nvPr/>
        </p:nvSpPr>
        <p:spPr>
          <a:xfrm>
            <a:off x="5330190" y="6664960"/>
            <a:ext cx="4953000" cy="9525"/>
          </a:xfrm>
          <a:prstGeom prst="rect">
            <a:avLst/>
          </a:prstGeom>
          <a:solidFill>
            <a:srgbClr val="262D36"/>
          </a:solidFill>
          <a:ln/>
        </p:spPr>
      </p:sp>
      <p:sp>
        <p:nvSpPr>
          <p:cNvPr id="18" name="Shape 16"/>
          <p:cNvSpPr/>
          <p:nvPr/>
        </p:nvSpPr>
        <p:spPr>
          <a:xfrm>
            <a:off x="5330190" y="6664960"/>
            <a:ext cx="9525" cy="438150"/>
          </a:xfrm>
          <a:prstGeom prst="rect">
            <a:avLst/>
          </a:prstGeom>
          <a:solidFill>
            <a:srgbClr val="262D36"/>
          </a:solidFill>
          <a:ln/>
        </p:spPr>
      </p:sp>
      <p:sp>
        <p:nvSpPr>
          <p:cNvPr id="19" name="Shape 17"/>
          <p:cNvSpPr/>
          <p:nvPr/>
        </p:nvSpPr>
        <p:spPr>
          <a:xfrm>
            <a:off x="7806690" y="6664960"/>
            <a:ext cx="9525" cy="438150"/>
          </a:xfrm>
          <a:prstGeom prst="rect">
            <a:avLst/>
          </a:prstGeom>
          <a:solidFill>
            <a:srgbClr val="262D36"/>
          </a:solidFill>
          <a:ln/>
        </p:spPr>
      </p:sp>
      <p:sp>
        <p:nvSpPr>
          <p:cNvPr id="20" name="Shape 18"/>
          <p:cNvSpPr/>
          <p:nvPr/>
        </p:nvSpPr>
        <p:spPr>
          <a:xfrm>
            <a:off x="10283190" y="6664960"/>
            <a:ext cx="9525" cy="438150"/>
          </a:xfrm>
          <a:prstGeom prst="rect">
            <a:avLst/>
          </a:prstGeom>
          <a:solidFill>
            <a:srgbClr val="262D36"/>
          </a:solidFill>
          <a:ln/>
        </p:spPr>
      </p:sp>
      <p:sp>
        <p:nvSpPr>
          <p:cNvPr id="21" name="Text 19"/>
          <p:cNvSpPr/>
          <p:nvPr/>
        </p:nvSpPr>
        <p:spPr>
          <a:xfrm>
            <a:off x="5215890" y="6969760"/>
            <a:ext cx="200501" cy="285750"/>
          </a:xfrm>
          <a:prstGeom prst="rect">
            <a:avLst/>
          </a:prstGeom>
          <a:noFill/>
          <a:ln/>
        </p:spPr>
        <p:txBody>
          <a:bodyPr wrap="square" lIns="25400" tIns="25400" rIns="25400" bIns="25400" rtlCol="0" anchor="t">
            <a:normAutofit/>
          </a:bodyPr>
          <a:lstStyle/>
          <a:p>
            <a:pPr marL="0" indent="0" algn="l">
              <a:lnSpc>
                <a:spcPct val="86667"/>
              </a:lnSpc>
              <a:buNone/>
            </a:pPr>
            <a:r>
              <a:rPr lang="en-US" sz="1950">
                <a:solidFill>
                  <a:srgbClr val="8B949E"/>
                </a:solidFill>
                <a:latin typeface="Arial" pitchFamily="34" charset="0"/>
                <a:ea typeface="Arial" pitchFamily="34" charset="-122"/>
                <a:cs typeface="Arial" pitchFamily="34" charset="-120"/>
              </a:rPr>
              <a:t>▾</a:t>
            </a:r>
            <a:endParaRPr lang="en-US" sz="1950"/>
          </a:p>
        </p:txBody>
      </p:sp>
      <p:sp>
        <p:nvSpPr>
          <p:cNvPr id="22" name="Text 20"/>
          <p:cNvSpPr/>
          <p:nvPr/>
        </p:nvSpPr>
        <p:spPr>
          <a:xfrm>
            <a:off x="7692390" y="6969760"/>
            <a:ext cx="200501" cy="285750"/>
          </a:xfrm>
          <a:prstGeom prst="rect">
            <a:avLst/>
          </a:prstGeom>
          <a:noFill/>
          <a:ln/>
        </p:spPr>
        <p:txBody>
          <a:bodyPr wrap="square" lIns="25400" tIns="25400" rIns="25400" bIns="25400" rtlCol="0" anchor="t">
            <a:normAutofit/>
          </a:bodyPr>
          <a:lstStyle/>
          <a:p>
            <a:pPr marL="0" indent="0" algn="l">
              <a:lnSpc>
                <a:spcPct val="86667"/>
              </a:lnSpc>
              <a:buNone/>
            </a:pPr>
            <a:r>
              <a:rPr lang="en-US" sz="1950">
                <a:solidFill>
                  <a:srgbClr val="8B949E"/>
                </a:solidFill>
                <a:latin typeface="Arial" pitchFamily="34" charset="0"/>
                <a:ea typeface="Arial" pitchFamily="34" charset="-122"/>
                <a:cs typeface="Arial" pitchFamily="34" charset="-120"/>
              </a:rPr>
              <a:t>▾</a:t>
            </a:r>
            <a:endParaRPr lang="en-US" sz="1950"/>
          </a:p>
        </p:txBody>
      </p:sp>
      <p:sp>
        <p:nvSpPr>
          <p:cNvPr id="23" name="Text 21"/>
          <p:cNvSpPr/>
          <p:nvPr/>
        </p:nvSpPr>
        <p:spPr>
          <a:xfrm>
            <a:off x="10168890" y="6969760"/>
            <a:ext cx="200501" cy="285750"/>
          </a:xfrm>
          <a:prstGeom prst="rect">
            <a:avLst/>
          </a:prstGeom>
          <a:noFill/>
          <a:ln/>
        </p:spPr>
        <p:txBody>
          <a:bodyPr wrap="square" lIns="25400" tIns="25400" rIns="25400" bIns="25400" rtlCol="0" anchor="t">
            <a:normAutofit/>
          </a:bodyPr>
          <a:lstStyle/>
          <a:p>
            <a:pPr marL="0" indent="0" algn="l">
              <a:lnSpc>
                <a:spcPct val="86667"/>
              </a:lnSpc>
              <a:buNone/>
            </a:pPr>
            <a:r>
              <a:rPr lang="en-US" sz="1950">
                <a:solidFill>
                  <a:srgbClr val="8B949E"/>
                </a:solidFill>
                <a:latin typeface="Arial" pitchFamily="34" charset="0"/>
                <a:ea typeface="Arial" pitchFamily="34" charset="-122"/>
                <a:cs typeface="Arial" pitchFamily="34" charset="-120"/>
              </a:rPr>
              <a:t>▾</a:t>
            </a:r>
            <a:endParaRPr lang="en-US" sz="1950"/>
          </a:p>
        </p:txBody>
      </p:sp>
      <p:sp>
        <p:nvSpPr>
          <p:cNvPr id="24" name="Text 22"/>
          <p:cNvSpPr/>
          <p:nvPr/>
        </p:nvSpPr>
        <p:spPr>
          <a:xfrm>
            <a:off x="5444490" y="6741160"/>
            <a:ext cx="489109" cy="311150"/>
          </a:xfrm>
          <a:prstGeom prst="rect">
            <a:avLst/>
          </a:prstGeom>
          <a:noFill/>
          <a:ln/>
        </p:spPr>
        <p:txBody>
          <a:bodyPr wrap="square" lIns="25400" tIns="25400" rIns="25400" bIns="25400" rtlCol="0" anchor="t">
            <a:normAutofit/>
          </a:bodyPr>
          <a:lstStyle/>
          <a:p>
            <a:pPr marL="0" indent="0" algn="l">
              <a:buNone/>
            </a:pPr>
            <a:r>
              <a:rPr lang="en-US" sz="1800">
                <a:solidFill>
                  <a:srgbClr val="E6EDF3"/>
                </a:solidFill>
                <a:latin typeface="Courier New" pitchFamily="34" charset="0"/>
                <a:ea typeface="Courier New" pitchFamily="34" charset="-122"/>
                <a:cs typeface="Courier New" pitchFamily="34" charset="-120"/>
              </a:rPr>
              <a:t>50%</a:t>
            </a:r>
            <a:endParaRPr lang="en-US" sz="1800"/>
          </a:p>
        </p:txBody>
      </p:sp>
      <p:sp>
        <p:nvSpPr>
          <p:cNvPr id="25" name="Text 23"/>
          <p:cNvSpPr/>
          <p:nvPr/>
        </p:nvSpPr>
        <p:spPr>
          <a:xfrm>
            <a:off x="7920990" y="6741160"/>
            <a:ext cx="489109" cy="311150"/>
          </a:xfrm>
          <a:prstGeom prst="rect">
            <a:avLst/>
          </a:prstGeom>
          <a:noFill/>
          <a:ln/>
        </p:spPr>
        <p:txBody>
          <a:bodyPr wrap="square" lIns="25400" tIns="25400" rIns="25400" bIns="25400" rtlCol="0" anchor="t">
            <a:normAutofit/>
          </a:bodyPr>
          <a:lstStyle/>
          <a:p>
            <a:pPr marL="0" indent="0" algn="l">
              <a:buNone/>
            </a:pPr>
            <a:r>
              <a:rPr lang="en-US" sz="1800">
                <a:solidFill>
                  <a:srgbClr val="E6EDF3"/>
                </a:solidFill>
                <a:latin typeface="Courier New" pitchFamily="34" charset="0"/>
                <a:ea typeface="Courier New" pitchFamily="34" charset="-122"/>
                <a:cs typeface="Courier New" pitchFamily="34" charset="-120"/>
              </a:rPr>
              <a:t>30%</a:t>
            </a:r>
            <a:endParaRPr lang="en-US" sz="1800"/>
          </a:p>
        </p:txBody>
      </p:sp>
      <p:sp>
        <p:nvSpPr>
          <p:cNvPr id="26" name="Text 24"/>
          <p:cNvSpPr/>
          <p:nvPr/>
        </p:nvSpPr>
        <p:spPr>
          <a:xfrm>
            <a:off x="10397490" y="6741160"/>
            <a:ext cx="489109" cy="311150"/>
          </a:xfrm>
          <a:prstGeom prst="rect">
            <a:avLst/>
          </a:prstGeom>
          <a:noFill/>
          <a:ln/>
        </p:spPr>
        <p:txBody>
          <a:bodyPr wrap="square" lIns="25400" tIns="25400" rIns="25400" bIns="25400" rtlCol="0" anchor="t">
            <a:normAutofit/>
          </a:bodyPr>
          <a:lstStyle/>
          <a:p>
            <a:pPr marL="0" indent="0" algn="l">
              <a:buNone/>
            </a:pPr>
            <a:r>
              <a:rPr lang="en-US" sz="1800">
                <a:solidFill>
                  <a:srgbClr val="E6EDF3"/>
                </a:solidFill>
                <a:latin typeface="Courier New" pitchFamily="34" charset="0"/>
                <a:ea typeface="Courier New" pitchFamily="34" charset="-122"/>
                <a:cs typeface="Courier New" pitchFamily="34" charset="-120"/>
              </a:rPr>
              <a:t>20%</a:t>
            </a:r>
            <a:endParaRPr lang="en-US" sz="1800"/>
          </a:p>
        </p:txBody>
      </p:sp>
      <p:sp>
        <p:nvSpPr>
          <p:cNvPr id="27" name="Shape 25"/>
          <p:cNvSpPr/>
          <p:nvPr/>
        </p:nvSpPr>
        <p:spPr>
          <a:xfrm>
            <a:off x="4187190" y="7160260"/>
            <a:ext cx="2298700" cy="774700"/>
          </a:xfrm>
          <a:prstGeom prst="rect">
            <a:avLst/>
          </a:prstGeom>
          <a:ln w="6350">
            <a:solidFill>
              <a:srgbClr val="262D36"/>
            </a:solidFill>
            <a:prstDash val="solid"/>
          </a:ln>
        </p:spPr>
      </p:sp>
      <p:sp>
        <p:nvSpPr>
          <p:cNvPr id="28" name="Text 26"/>
          <p:cNvSpPr/>
          <p:nvPr/>
        </p:nvSpPr>
        <p:spPr>
          <a:xfrm>
            <a:off x="4155440" y="7166610"/>
            <a:ext cx="2362200" cy="800100"/>
          </a:xfrm>
          <a:prstGeom prst="rect">
            <a:avLst/>
          </a:prstGeom>
          <a:noFill/>
          <a:ln/>
        </p:spPr>
        <p:txBody>
          <a:bodyPr wrap="square" lIns="25400" tIns="25400" rIns="25400" bIns="25400" rtlCol="0" anchor="ctr">
            <a:normAutofit/>
          </a:bodyPr>
          <a:lstStyle/>
          <a:p>
            <a:pPr marL="0" indent="0" algn="ctr">
              <a:buNone/>
            </a:pPr>
            <a:r>
              <a:rPr lang="en-US" sz="2250">
                <a:solidFill>
                  <a:srgbClr val="E6EDF3"/>
                </a:solidFill>
                <a:latin typeface="Arial" pitchFamily="34" charset="0"/>
                <a:ea typeface="Arial" pitchFamily="34" charset="-122"/>
                <a:cs typeface="Arial" pitchFamily="34" charset="-120"/>
              </a:rPr>
              <a:t>Fund A</a:t>
            </a:r>
            <a:endParaRPr lang="en-US" sz="2250"/>
          </a:p>
        </p:txBody>
      </p:sp>
      <p:sp>
        <p:nvSpPr>
          <p:cNvPr id="29" name="Shape 27"/>
          <p:cNvSpPr/>
          <p:nvPr/>
        </p:nvSpPr>
        <p:spPr>
          <a:xfrm>
            <a:off x="6663690" y="7160260"/>
            <a:ext cx="2298700" cy="774700"/>
          </a:xfrm>
          <a:prstGeom prst="rect">
            <a:avLst/>
          </a:prstGeom>
          <a:ln w="6350">
            <a:solidFill>
              <a:srgbClr val="262D36"/>
            </a:solidFill>
            <a:prstDash val="solid"/>
          </a:ln>
        </p:spPr>
      </p:sp>
      <p:sp>
        <p:nvSpPr>
          <p:cNvPr id="30" name="Text 28"/>
          <p:cNvSpPr/>
          <p:nvPr/>
        </p:nvSpPr>
        <p:spPr>
          <a:xfrm>
            <a:off x="6631940" y="7166610"/>
            <a:ext cx="2362200" cy="800100"/>
          </a:xfrm>
          <a:prstGeom prst="rect">
            <a:avLst/>
          </a:prstGeom>
          <a:noFill/>
          <a:ln/>
        </p:spPr>
        <p:txBody>
          <a:bodyPr wrap="square" lIns="25400" tIns="25400" rIns="25400" bIns="25400" rtlCol="0" anchor="ctr">
            <a:normAutofit/>
          </a:bodyPr>
          <a:lstStyle/>
          <a:p>
            <a:pPr marL="0" indent="0" algn="ctr">
              <a:buNone/>
            </a:pPr>
            <a:r>
              <a:rPr lang="en-US" sz="2250">
                <a:solidFill>
                  <a:srgbClr val="E6EDF3"/>
                </a:solidFill>
                <a:latin typeface="Arial" pitchFamily="34" charset="0"/>
                <a:ea typeface="Arial" pitchFamily="34" charset="-122"/>
                <a:cs typeface="Arial" pitchFamily="34" charset="-120"/>
              </a:rPr>
              <a:t>Fund B</a:t>
            </a:r>
            <a:endParaRPr lang="en-US" sz="2250"/>
          </a:p>
        </p:txBody>
      </p:sp>
      <p:sp>
        <p:nvSpPr>
          <p:cNvPr id="31" name="Shape 29"/>
          <p:cNvSpPr/>
          <p:nvPr/>
        </p:nvSpPr>
        <p:spPr>
          <a:xfrm>
            <a:off x="9140190" y="7160260"/>
            <a:ext cx="2298700" cy="774700"/>
          </a:xfrm>
          <a:prstGeom prst="rect">
            <a:avLst/>
          </a:prstGeom>
          <a:ln w="6350">
            <a:solidFill>
              <a:srgbClr val="262D36"/>
            </a:solidFill>
            <a:prstDash val="solid"/>
          </a:ln>
        </p:spPr>
      </p:sp>
      <p:sp>
        <p:nvSpPr>
          <p:cNvPr id="32" name="Text 30"/>
          <p:cNvSpPr/>
          <p:nvPr/>
        </p:nvSpPr>
        <p:spPr>
          <a:xfrm>
            <a:off x="9108440" y="7166610"/>
            <a:ext cx="2362200" cy="800100"/>
          </a:xfrm>
          <a:prstGeom prst="rect">
            <a:avLst/>
          </a:prstGeom>
          <a:noFill/>
          <a:ln/>
        </p:spPr>
        <p:txBody>
          <a:bodyPr wrap="square" lIns="25400" tIns="25400" rIns="25400" bIns="25400" rtlCol="0" anchor="ctr">
            <a:normAutofit/>
          </a:bodyPr>
          <a:lstStyle/>
          <a:p>
            <a:pPr marL="0" indent="0" algn="ctr">
              <a:buNone/>
            </a:pPr>
            <a:r>
              <a:rPr lang="en-US" sz="2250">
                <a:solidFill>
                  <a:srgbClr val="E6EDF3"/>
                </a:solidFill>
                <a:latin typeface="Arial" pitchFamily="34" charset="0"/>
                <a:ea typeface="Arial" pitchFamily="34" charset="-122"/>
                <a:cs typeface="Arial" pitchFamily="34" charset="-120"/>
              </a:rPr>
              <a:t>Fund C</a:t>
            </a:r>
            <a:endParaRPr lang="en-US" sz="2250"/>
          </a:p>
        </p:txBody>
      </p:sp>
      <p:sp>
        <p:nvSpPr>
          <p:cNvPr id="33" name="Shape 31"/>
          <p:cNvSpPr/>
          <p:nvPr/>
        </p:nvSpPr>
        <p:spPr>
          <a:xfrm>
            <a:off x="11426190" y="7541260"/>
            <a:ext cx="2667000" cy="9525"/>
          </a:xfrm>
          <a:prstGeom prst="rect">
            <a:avLst/>
          </a:prstGeom>
          <a:solidFill>
            <a:srgbClr val="8B949E"/>
          </a:solidFill>
          <a:ln/>
        </p:spPr>
      </p:sp>
      <p:sp>
        <p:nvSpPr>
          <p:cNvPr id="34" name="Shape 32"/>
          <p:cNvSpPr/>
          <p:nvPr/>
        </p:nvSpPr>
        <p:spPr>
          <a:xfrm>
            <a:off x="14093190" y="4017010"/>
            <a:ext cx="9525" cy="3524250"/>
          </a:xfrm>
          <a:prstGeom prst="rect">
            <a:avLst/>
          </a:prstGeom>
          <a:solidFill>
            <a:srgbClr val="8B949E"/>
          </a:solidFill>
          <a:ln/>
        </p:spPr>
      </p:sp>
      <p:sp>
        <p:nvSpPr>
          <p:cNvPr id="35" name="Shape 33"/>
          <p:cNvSpPr/>
          <p:nvPr/>
        </p:nvSpPr>
        <p:spPr>
          <a:xfrm>
            <a:off x="9140190" y="4017010"/>
            <a:ext cx="4953000" cy="9525"/>
          </a:xfrm>
          <a:prstGeom prst="rect">
            <a:avLst/>
          </a:prstGeom>
          <a:solidFill>
            <a:srgbClr val="8B949E"/>
          </a:solidFill>
          <a:ln/>
        </p:spPr>
      </p:sp>
      <p:sp>
        <p:nvSpPr>
          <p:cNvPr id="36" name="Text 34"/>
          <p:cNvSpPr/>
          <p:nvPr/>
        </p:nvSpPr>
        <p:spPr>
          <a:xfrm>
            <a:off x="9140190" y="3902710"/>
            <a:ext cx="200501" cy="285750"/>
          </a:xfrm>
          <a:prstGeom prst="rect">
            <a:avLst/>
          </a:prstGeom>
          <a:noFill/>
          <a:ln/>
        </p:spPr>
        <p:txBody>
          <a:bodyPr wrap="square" lIns="25400" tIns="25400" rIns="25400" bIns="25400" rtlCol="0" anchor="t">
            <a:normAutofit/>
          </a:bodyPr>
          <a:lstStyle/>
          <a:p>
            <a:pPr marL="0" indent="0" algn="l">
              <a:lnSpc>
                <a:spcPct val="86667"/>
              </a:lnSpc>
              <a:buNone/>
            </a:pPr>
            <a:r>
              <a:rPr lang="en-US" sz="1950">
                <a:solidFill>
                  <a:srgbClr val="8B949E"/>
                </a:solidFill>
                <a:latin typeface="Arial" pitchFamily="34" charset="0"/>
                <a:ea typeface="Arial" pitchFamily="34" charset="-122"/>
                <a:cs typeface="Arial" pitchFamily="34" charset="-120"/>
              </a:rPr>
              <a:t>◂</a:t>
            </a:r>
            <a:endParaRPr lang="en-US" sz="1950"/>
          </a:p>
        </p:txBody>
      </p:sp>
      <p:sp>
        <p:nvSpPr>
          <p:cNvPr id="37" name="Text 35"/>
          <p:cNvSpPr/>
          <p:nvPr/>
        </p:nvSpPr>
        <p:spPr>
          <a:xfrm>
            <a:off x="14321790" y="5598160"/>
            <a:ext cx="3352800" cy="355600"/>
          </a:xfrm>
          <a:prstGeom prst="rect">
            <a:avLst/>
          </a:prstGeom>
          <a:noFill/>
          <a:ln/>
        </p:spPr>
        <p:txBody>
          <a:bodyPr wrap="square" lIns="25400" tIns="25400" rIns="25400" bIns="25400" rtlCol="0" anchor="t">
            <a:normAutofit/>
          </a:bodyPr>
          <a:lstStyle/>
          <a:p>
            <a:pPr marL="0" indent="0" algn="l">
              <a:buNone/>
            </a:pPr>
            <a:r>
              <a:rPr lang="en-US" sz="1800">
                <a:solidFill>
                  <a:srgbClr val="8B949E"/>
                </a:solidFill>
                <a:latin typeface="Arial" pitchFamily="34" charset="0"/>
                <a:ea typeface="Arial" pitchFamily="34" charset="-122"/>
                <a:cs typeface="Arial" pitchFamily="34" charset="-120"/>
              </a:rPr>
              <a:t>repay with interest</a:t>
            </a:r>
            <a:endParaRPr lang="en-US" sz="1800"/>
          </a:p>
        </p:txBody>
      </p:sp>
      <p:sp>
        <p:nvSpPr>
          <p:cNvPr id="38" name="Text 36"/>
          <p:cNvSpPr/>
          <p:nvPr/>
        </p:nvSpPr>
        <p:spPr>
          <a:xfrm>
            <a:off x="9902190" y="3636010"/>
            <a:ext cx="1996488" cy="355600"/>
          </a:xfrm>
          <a:prstGeom prst="rect">
            <a:avLst/>
          </a:prstGeom>
          <a:noFill/>
          <a:ln/>
        </p:spPr>
        <p:txBody>
          <a:bodyPr wrap="square" lIns="25400" tIns="25400" rIns="25400" bIns="25400" rtlCol="0" anchor="t">
            <a:normAutofit/>
          </a:bodyPr>
          <a:lstStyle/>
          <a:p>
            <a:pPr marL="0" indent="0" algn="l">
              <a:buNone/>
            </a:pPr>
            <a:r>
              <a:rPr lang="en-US" sz="1800">
                <a:solidFill>
                  <a:srgbClr val="3FB950"/>
                </a:solidFill>
                <a:latin typeface="Arial" pitchFamily="34" charset="0"/>
                <a:ea typeface="Arial" pitchFamily="34" charset="-122"/>
                <a:cs typeface="Arial" pitchFamily="34" charset="-120"/>
              </a:rPr>
              <a:t>price per share ▲</a:t>
            </a:r>
            <a:endParaRPr lang="en-US"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116"/>
        </a:solidFill>
        <a:effectLst/>
      </p:bgPr>
    </p:bg>
    <p:spTree>
      <p:nvGrpSpPr>
        <p:cNvPr id="1" name=""/>
        <p:cNvGrpSpPr/>
        <p:nvPr/>
      </p:nvGrpSpPr>
      <p:grpSpPr>
        <a:xfrm>
          <a:off x="0" y="0"/>
          <a:ext cx="0" cy="0"/>
          <a:chOff x="0" y="0"/>
          <a:chExt cx="0" cy="0"/>
        </a:xfrm>
      </p:grpSpPr>
      <p:sp>
        <p:nvSpPr>
          <p:cNvPr id="3" name="Text 1"/>
          <p:cNvSpPr/>
          <p:nvPr/>
        </p:nvSpPr>
        <p:spPr>
          <a:xfrm>
            <a:off x="1143000" y="1346200"/>
            <a:ext cx="17602200" cy="758190"/>
          </a:xfrm>
          <a:prstGeom prst="rect">
            <a:avLst/>
          </a:prstGeom>
          <a:noFill/>
          <a:ln/>
        </p:spPr>
        <p:txBody>
          <a:bodyPr wrap="square" lIns="25400" tIns="25400" rIns="25400" bIns="25400" rtlCol="0" anchor="t">
            <a:normAutofit lnSpcReduction="10000"/>
          </a:bodyPr>
          <a:lstStyle/>
          <a:p>
            <a:pPr>
              <a:lnSpc>
                <a:spcPct val="93719"/>
              </a:lnSpc>
            </a:pPr>
            <a:r>
              <a:rPr lang="en-US" sz="5400" b="1" kern="0" spc="-135" dirty="0">
                <a:solidFill>
                  <a:srgbClr val="E6EDF3"/>
                </a:solidFill>
                <a:latin typeface="Arial"/>
                <a:cs typeface="Arial"/>
              </a:rPr>
              <a:t>Developer Feedback</a:t>
            </a:r>
            <a:endParaRPr lang="en-US" dirty="0"/>
          </a:p>
        </p:txBody>
      </p:sp>
      <p:sp>
        <p:nvSpPr>
          <p:cNvPr id="5" name="Shape 3"/>
          <p:cNvSpPr/>
          <p:nvPr/>
        </p:nvSpPr>
        <p:spPr>
          <a:xfrm>
            <a:off x="1143000" y="2974340"/>
            <a:ext cx="8877300" cy="9525"/>
          </a:xfrm>
          <a:prstGeom prst="rect">
            <a:avLst/>
          </a:prstGeom>
          <a:solidFill>
            <a:srgbClr val="262D36"/>
          </a:solidFill>
          <a:ln/>
        </p:spPr>
      </p:sp>
      <p:sp>
        <p:nvSpPr>
          <p:cNvPr id="6" name="Text 4"/>
          <p:cNvSpPr/>
          <p:nvPr/>
        </p:nvSpPr>
        <p:spPr>
          <a:xfrm>
            <a:off x="1143000" y="3285490"/>
            <a:ext cx="533400" cy="1532255"/>
          </a:xfrm>
          <a:prstGeom prst="rect">
            <a:avLst/>
          </a:prstGeom>
          <a:noFill/>
          <a:ln/>
        </p:spPr>
        <p:txBody>
          <a:bodyPr wrap="square" lIns="25400" tIns="25400" rIns="25400" bIns="25400" rtlCol="0" anchor="t">
            <a:normAutofit/>
          </a:bodyPr>
          <a:lstStyle/>
          <a:p>
            <a:pPr marL="0" indent="0" algn="l">
              <a:buNone/>
            </a:pPr>
            <a:r>
              <a:rPr lang="en-US" sz="2100" dirty="0">
                <a:solidFill>
                  <a:srgbClr val="8B949E"/>
                </a:solidFill>
                <a:latin typeface="Arial" pitchFamily="34" charset="0"/>
                <a:ea typeface="Arial" pitchFamily="34" charset="-122"/>
                <a:cs typeface="Arial" pitchFamily="34" charset="-120"/>
              </a:rPr>
              <a:t>①</a:t>
            </a:r>
            <a:endParaRPr lang="en-US" sz="2100" dirty="0"/>
          </a:p>
        </p:txBody>
      </p:sp>
      <p:sp>
        <p:nvSpPr>
          <p:cNvPr id="7" name="Text 5"/>
          <p:cNvSpPr/>
          <p:nvPr/>
        </p:nvSpPr>
        <p:spPr>
          <a:xfrm>
            <a:off x="1828800" y="3285490"/>
            <a:ext cx="9010650" cy="495300"/>
          </a:xfrm>
          <a:prstGeom prst="rect">
            <a:avLst/>
          </a:prstGeom>
          <a:noFill/>
          <a:ln/>
        </p:spPr>
        <p:txBody>
          <a:bodyPr wrap="square" lIns="25400" tIns="25400" rIns="25400" bIns="25400" rtlCol="0" anchor="t">
            <a:normAutofit/>
          </a:bodyPr>
          <a:lstStyle/>
          <a:p>
            <a:pPr marL="0" indent="0" algn="l">
              <a:lnSpc>
                <a:spcPct val="105882"/>
              </a:lnSpc>
              <a:buNone/>
            </a:pPr>
            <a:r>
              <a:rPr lang="en-US" sz="3000" b="1" kern="0" spc="-45" dirty="0">
                <a:solidFill>
                  <a:srgbClr val="E6EDF3"/>
                </a:solidFill>
                <a:latin typeface="Arial" pitchFamily="34" charset="0"/>
                <a:ea typeface="Arial" pitchFamily="34" charset="-122"/>
                <a:cs typeface="Arial" pitchFamily="34" charset="-120"/>
              </a:rPr>
              <a:t>Anyone can permanently disable a lender.</a:t>
            </a:r>
            <a:endParaRPr lang="en-US" sz="3000" dirty="0"/>
          </a:p>
        </p:txBody>
      </p:sp>
      <p:sp>
        <p:nvSpPr>
          <p:cNvPr id="8" name="Text 6"/>
          <p:cNvSpPr/>
          <p:nvPr/>
        </p:nvSpPr>
        <p:spPr>
          <a:xfrm>
            <a:off x="1828800" y="3895090"/>
            <a:ext cx="9010650" cy="411480"/>
          </a:xfrm>
          <a:prstGeom prst="rect">
            <a:avLst/>
          </a:prstGeom>
          <a:noFill/>
          <a:ln/>
        </p:spPr>
        <p:txBody>
          <a:bodyPr wrap="square" lIns="25400" tIns="25400" rIns="25400" bIns="25400" rtlCol="0" anchor="t">
            <a:normAutofit/>
          </a:bodyPr>
          <a:lstStyle/>
          <a:p>
            <a:pPr marL="0" indent="0" algn="l">
              <a:lnSpc>
                <a:spcPct val="122500"/>
              </a:lnSpc>
              <a:buNone/>
            </a:pPr>
            <a:r>
              <a:rPr lang="en-US" sz="2100" dirty="0">
                <a:solidFill>
                  <a:srgbClr val="8B949E"/>
                </a:solidFill>
                <a:latin typeface="Arial" pitchFamily="34" charset="0"/>
                <a:ea typeface="Arial" pitchFamily="34" charset="-122"/>
                <a:cs typeface="Arial" pitchFamily="34" charset="-120"/>
              </a:rPr>
              <a:t>One credential to its internal account, and every operation on it fails.</a:t>
            </a:r>
            <a:endParaRPr lang="en-US" sz="2100" dirty="0"/>
          </a:p>
        </p:txBody>
      </p:sp>
      <p:sp>
        <p:nvSpPr>
          <p:cNvPr id="9" name="Text 7"/>
          <p:cNvSpPr/>
          <p:nvPr/>
        </p:nvSpPr>
        <p:spPr>
          <a:xfrm>
            <a:off x="1828800" y="4458970"/>
            <a:ext cx="3354372" cy="355600"/>
          </a:xfrm>
          <a:prstGeom prst="rect">
            <a:avLst/>
          </a:prstGeom>
          <a:noFill/>
          <a:ln/>
        </p:spPr>
        <p:txBody>
          <a:bodyPr wrap="square" lIns="25400" tIns="25400" rIns="25400" bIns="25400" rtlCol="0" anchor="t">
            <a:normAutofit/>
          </a:bodyPr>
          <a:lstStyle/>
          <a:p>
            <a:pPr marL="0" indent="0" algn="l">
              <a:buNone/>
            </a:pPr>
            <a:r>
              <a:rPr lang="en-US" sz="2100" dirty="0">
                <a:solidFill>
                  <a:srgbClr val="F85149"/>
                </a:solidFill>
                <a:latin typeface="Courier New" pitchFamily="34" charset="0"/>
                <a:ea typeface="Courier New" pitchFamily="34" charset="-122"/>
                <a:cs typeface="Courier New" pitchFamily="34" charset="-120"/>
              </a:rPr>
              <a:t>tecINVARIANT_FAILED</a:t>
            </a:r>
            <a:endParaRPr lang="en-US" sz="2100" dirty="0"/>
          </a:p>
        </p:txBody>
      </p:sp>
      <p:sp>
        <p:nvSpPr>
          <p:cNvPr id="11" name="Shape 9"/>
          <p:cNvSpPr/>
          <p:nvPr/>
        </p:nvSpPr>
        <p:spPr>
          <a:xfrm>
            <a:off x="1143000" y="7194550"/>
            <a:ext cx="8877300" cy="9525"/>
          </a:xfrm>
          <a:prstGeom prst="rect">
            <a:avLst/>
          </a:prstGeom>
          <a:solidFill>
            <a:srgbClr val="262D36"/>
          </a:solidFill>
          <a:ln/>
        </p:spPr>
      </p:sp>
      <p:sp>
        <p:nvSpPr>
          <p:cNvPr id="12" name="Shape 10"/>
          <p:cNvSpPr/>
          <p:nvPr/>
        </p:nvSpPr>
        <p:spPr>
          <a:xfrm>
            <a:off x="1143000" y="5084445"/>
            <a:ext cx="8877300" cy="9525"/>
          </a:xfrm>
          <a:prstGeom prst="rect">
            <a:avLst/>
          </a:prstGeom>
          <a:solidFill>
            <a:srgbClr val="262D36"/>
          </a:solidFill>
          <a:ln/>
        </p:spPr>
      </p:sp>
      <p:sp>
        <p:nvSpPr>
          <p:cNvPr id="13" name="Text 11"/>
          <p:cNvSpPr/>
          <p:nvPr/>
        </p:nvSpPr>
        <p:spPr>
          <a:xfrm>
            <a:off x="1143000" y="5395595"/>
            <a:ext cx="533400" cy="1532255"/>
          </a:xfrm>
          <a:prstGeom prst="rect">
            <a:avLst/>
          </a:prstGeom>
          <a:noFill/>
          <a:ln/>
        </p:spPr>
        <p:txBody>
          <a:bodyPr wrap="square" lIns="25400" tIns="25400" rIns="25400" bIns="25400" rtlCol="0" anchor="t">
            <a:normAutofit/>
          </a:bodyPr>
          <a:lstStyle/>
          <a:p>
            <a:pPr marL="0" indent="0" algn="l">
              <a:buNone/>
            </a:pPr>
            <a:r>
              <a:rPr lang="en-US" sz="2100" dirty="0">
                <a:solidFill>
                  <a:srgbClr val="8B949E"/>
                </a:solidFill>
                <a:latin typeface="Arial" pitchFamily="34" charset="0"/>
                <a:ea typeface="Arial" pitchFamily="34" charset="-122"/>
                <a:cs typeface="Arial" pitchFamily="34" charset="-120"/>
              </a:rPr>
              <a:t>②</a:t>
            </a:r>
            <a:endParaRPr lang="en-US" sz="2100" dirty="0"/>
          </a:p>
        </p:txBody>
      </p:sp>
      <p:sp>
        <p:nvSpPr>
          <p:cNvPr id="14" name="Text 12"/>
          <p:cNvSpPr/>
          <p:nvPr/>
        </p:nvSpPr>
        <p:spPr>
          <a:xfrm>
            <a:off x="1828800" y="5395595"/>
            <a:ext cx="9010650" cy="495300"/>
          </a:xfrm>
          <a:prstGeom prst="rect">
            <a:avLst/>
          </a:prstGeom>
          <a:noFill/>
          <a:ln/>
        </p:spPr>
        <p:txBody>
          <a:bodyPr wrap="square" lIns="25400" tIns="25400" rIns="25400" bIns="25400" rtlCol="0" anchor="t">
            <a:normAutofit/>
          </a:bodyPr>
          <a:lstStyle/>
          <a:p>
            <a:pPr marL="0" indent="0" algn="l">
              <a:lnSpc>
                <a:spcPct val="105882"/>
              </a:lnSpc>
              <a:buNone/>
            </a:pPr>
            <a:r>
              <a:rPr lang="en-US" sz="3000" b="1" kern="0" spc="-45" dirty="0">
                <a:solidFill>
                  <a:srgbClr val="E6EDF3"/>
                </a:solidFill>
                <a:latin typeface="Arial" pitchFamily="34" charset="0"/>
                <a:ea typeface="Arial" pitchFamily="34" charset="-122"/>
                <a:cs typeface="Arial" pitchFamily="34" charset="-120"/>
              </a:rPr>
              <a:t>Anyone can cancel an issuance fee.</a:t>
            </a:r>
            <a:endParaRPr lang="en-US" sz="3000" dirty="0"/>
          </a:p>
        </p:txBody>
      </p:sp>
      <p:sp>
        <p:nvSpPr>
          <p:cNvPr id="15" name="Text 13"/>
          <p:cNvSpPr/>
          <p:nvPr/>
        </p:nvSpPr>
        <p:spPr>
          <a:xfrm>
            <a:off x="1828800" y="6005195"/>
            <a:ext cx="9010650" cy="411480"/>
          </a:xfrm>
          <a:prstGeom prst="rect">
            <a:avLst/>
          </a:prstGeom>
          <a:noFill/>
          <a:ln/>
        </p:spPr>
        <p:txBody>
          <a:bodyPr wrap="square" lIns="25400" tIns="25400" rIns="25400" bIns="25400" rtlCol="0" anchor="t">
            <a:normAutofit/>
          </a:bodyPr>
          <a:lstStyle/>
          <a:p>
            <a:pPr marL="0" indent="0" algn="l">
              <a:lnSpc>
                <a:spcPct val="122500"/>
              </a:lnSpc>
              <a:buNone/>
            </a:pPr>
            <a:r>
              <a:rPr lang="en-US" sz="2100" dirty="0">
                <a:solidFill>
                  <a:srgbClr val="8B949E"/>
                </a:solidFill>
                <a:latin typeface="Arial" pitchFamily="34" charset="0"/>
                <a:ea typeface="Arial" pitchFamily="34" charset="-122"/>
                <a:cs typeface="Arial" pitchFamily="34" charset="-120"/>
              </a:rPr>
              <a:t>Name someone else as the destination, and the fee waiver follows it.</a:t>
            </a:r>
            <a:endParaRPr lang="en-US" sz="2100" dirty="0"/>
          </a:p>
        </p:txBody>
      </p:sp>
      <p:sp>
        <p:nvSpPr>
          <p:cNvPr id="16" name="Text 14"/>
          <p:cNvSpPr/>
          <p:nvPr/>
        </p:nvSpPr>
        <p:spPr>
          <a:xfrm>
            <a:off x="1828800" y="6569075"/>
            <a:ext cx="3884009" cy="355600"/>
          </a:xfrm>
          <a:prstGeom prst="rect">
            <a:avLst/>
          </a:prstGeom>
          <a:noFill/>
          <a:ln/>
        </p:spPr>
        <p:txBody>
          <a:bodyPr wrap="square" lIns="25400" tIns="25400" rIns="25400" bIns="25400" rtlCol="0" anchor="t">
            <a:normAutofit/>
          </a:bodyPr>
          <a:lstStyle/>
          <a:p>
            <a:pPr marL="0" indent="0" algn="l">
              <a:buNone/>
            </a:pPr>
            <a:r>
              <a:rPr lang="en-US" sz="2100" dirty="0">
                <a:solidFill>
                  <a:srgbClr val="F85149"/>
                </a:solidFill>
                <a:latin typeface="Courier New" pitchFamily="34" charset="0"/>
                <a:ea typeface="Courier New" pitchFamily="34" charset="-122"/>
                <a:cs typeface="Courier New" pitchFamily="34" charset="-120"/>
              </a:rPr>
              <a:t>2000 paid becomes 1000</a:t>
            </a:r>
            <a:endParaRPr lang="en-US" sz="2100" dirty="0"/>
          </a:p>
        </p:txBody>
      </p:sp>
      <p:sp>
        <p:nvSpPr>
          <p:cNvPr id="18" name="Shape 16"/>
          <p:cNvSpPr/>
          <p:nvPr/>
        </p:nvSpPr>
        <p:spPr>
          <a:xfrm>
            <a:off x="10744200" y="2485390"/>
            <a:ext cx="9525" cy="6455410"/>
          </a:xfrm>
          <a:prstGeom prst="rect">
            <a:avLst/>
          </a:prstGeom>
          <a:solidFill>
            <a:srgbClr val="262D36"/>
          </a:solidFill>
          <a:ln/>
        </p:spPr>
      </p:sp>
      <p:sp>
        <p:nvSpPr>
          <p:cNvPr id="20" name="Text 18"/>
          <p:cNvSpPr/>
          <p:nvPr/>
        </p:nvSpPr>
        <p:spPr>
          <a:xfrm>
            <a:off x="11474450" y="2974340"/>
            <a:ext cx="5840666" cy="731520"/>
          </a:xfrm>
          <a:prstGeom prst="rect">
            <a:avLst/>
          </a:prstGeom>
          <a:noFill/>
          <a:ln/>
        </p:spPr>
        <p:txBody>
          <a:bodyPr wrap="square" lIns="25400" tIns="25400" rIns="25400" bIns="25400" rtlCol="0" anchor="t">
            <a:normAutofit/>
          </a:bodyPr>
          <a:lstStyle/>
          <a:p>
            <a:pPr marL="0" indent="0" algn="l">
              <a:lnSpc>
                <a:spcPct val="113750"/>
              </a:lnSpc>
              <a:buNone/>
            </a:pPr>
            <a:r>
              <a:rPr lang="en-US" sz="2100" b="1" dirty="0">
                <a:solidFill>
                  <a:srgbClr val="E3B341"/>
                </a:solidFill>
                <a:latin typeface="Arial" pitchFamily="34" charset="0"/>
                <a:ea typeface="Arial" pitchFamily="34" charset="-122"/>
                <a:cs typeface="Arial" pitchFamily="34" charset="-120"/>
              </a:rPr>
              <a:t>Code that reads as a guarantee and delivers none</a:t>
            </a:r>
            <a:endParaRPr lang="en-US" sz="2100" dirty="0"/>
          </a:p>
        </p:txBody>
      </p:sp>
      <p:sp>
        <p:nvSpPr>
          <p:cNvPr id="21" name="Shape 19"/>
          <p:cNvSpPr/>
          <p:nvPr/>
        </p:nvSpPr>
        <p:spPr>
          <a:xfrm>
            <a:off x="11474450" y="3877310"/>
            <a:ext cx="5670550" cy="9525"/>
          </a:xfrm>
          <a:prstGeom prst="rect">
            <a:avLst/>
          </a:prstGeom>
          <a:solidFill>
            <a:srgbClr val="262D36"/>
          </a:solidFill>
          <a:ln/>
        </p:spPr>
      </p:sp>
      <p:sp>
        <p:nvSpPr>
          <p:cNvPr id="22" name="Text 20"/>
          <p:cNvSpPr/>
          <p:nvPr/>
        </p:nvSpPr>
        <p:spPr>
          <a:xfrm>
            <a:off x="11474450" y="4074160"/>
            <a:ext cx="5840666" cy="358140"/>
          </a:xfrm>
          <a:prstGeom prst="rect">
            <a:avLst/>
          </a:prstGeom>
          <a:noFill/>
          <a:ln/>
        </p:spPr>
        <p:txBody>
          <a:bodyPr wrap="square" lIns="25400" tIns="25400" rIns="25400" bIns="25400" rtlCol="0" anchor="t">
            <a:normAutofit/>
          </a:bodyPr>
          <a:lstStyle/>
          <a:p>
            <a:pPr marL="0" indent="0" algn="l">
              <a:lnSpc>
                <a:spcPct val="122927"/>
              </a:lnSpc>
              <a:buNone/>
            </a:pPr>
            <a:r>
              <a:rPr lang="en-US" sz="1800" dirty="0">
                <a:solidFill>
                  <a:srgbClr val="8B949E"/>
                </a:solidFill>
                <a:latin typeface="Arial" pitchFamily="34" charset="0"/>
                <a:ea typeface="Arial" pitchFamily="34" charset="-122"/>
                <a:cs typeface="Arial" pitchFamily="34" charset="-120"/>
              </a:rPr>
              <a:t>a loan takes a field it cannot store, and drops it</a:t>
            </a:r>
            <a:endParaRPr lang="en-US" sz="1800" dirty="0"/>
          </a:p>
        </p:txBody>
      </p:sp>
      <p:sp>
        <p:nvSpPr>
          <p:cNvPr id="23" name="Shape 21"/>
          <p:cNvSpPr/>
          <p:nvPr/>
        </p:nvSpPr>
        <p:spPr>
          <a:xfrm>
            <a:off x="11474450" y="4584700"/>
            <a:ext cx="5670550" cy="9525"/>
          </a:xfrm>
          <a:prstGeom prst="rect">
            <a:avLst/>
          </a:prstGeom>
          <a:solidFill>
            <a:srgbClr val="262D36"/>
          </a:solidFill>
          <a:ln/>
        </p:spPr>
      </p:sp>
      <p:sp>
        <p:nvSpPr>
          <p:cNvPr id="24" name="Text 22"/>
          <p:cNvSpPr/>
          <p:nvPr/>
        </p:nvSpPr>
        <p:spPr>
          <a:xfrm>
            <a:off x="11474450" y="4781550"/>
            <a:ext cx="5840666" cy="358140"/>
          </a:xfrm>
          <a:prstGeom prst="rect">
            <a:avLst/>
          </a:prstGeom>
          <a:noFill/>
          <a:ln/>
        </p:spPr>
        <p:txBody>
          <a:bodyPr wrap="square" lIns="25400" tIns="25400" rIns="25400" bIns="25400" rtlCol="0" anchor="t">
            <a:normAutofit/>
          </a:bodyPr>
          <a:lstStyle/>
          <a:p>
            <a:pPr marL="0" indent="0" algn="l">
              <a:lnSpc>
                <a:spcPct val="122927"/>
              </a:lnSpc>
              <a:buNone/>
            </a:pPr>
            <a:r>
              <a:rPr lang="en-US" sz="1800" dirty="0">
                <a:solidFill>
                  <a:srgbClr val="8B949E"/>
                </a:solidFill>
                <a:latin typeface="Arial" pitchFamily="34" charset="0"/>
                <a:ea typeface="Arial" pitchFamily="34" charset="-122"/>
                <a:cs typeface="Arial" pitchFamily="34" charset="-120"/>
              </a:rPr>
              <a:t>an immutability check misses the one field that matters</a:t>
            </a:r>
            <a:endParaRPr lang="en-US" sz="1800" dirty="0"/>
          </a:p>
        </p:txBody>
      </p:sp>
      <p:sp>
        <p:nvSpPr>
          <p:cNvPr id="25" name="Shape 23"/>
          <p:cNvSpPr/>
          <p:nvPr/>
        </p:nvSpPr>
        <p:spPr>
          <a:xfrm>
            <a:off x="11474450" y="5292090"/>
            <a:ext cx="5670550" cy="9525"/>
          </a:xfrm>
          <a:prstGeom prst="rect">
            <a:avLst/>
          </a:prstGeom>
          <a:solidFill>
            <a:srgbClr val="262D36"/>
          </a:solidFill>
          <a:ln/>
        </p:spPr>
      </p:sp>
      <p:sp>
        <p:nvSpPr>
          <p:cNvPr id="26" name="Text 24"/>
          <p:cNvSpPr/>
          <p:nvPr/>
        </p:nvSpPr>
        <p:spPr>
          <a:xfrm>
            <a:off x="11474450" y="5488940"/>
            <a:ext cx="5840666" cy="358140"/>
          </a:xfrm>
          <a:prstGeom prst="rect">
            <a:avLst/>
          </a:prstGeom>
          <a:noFill/>
          <a:ln/>
        </p:spPr>
        <p:txBody>
          <a:bodyPr wrap="square" lIns="25400" tIns="25400" rIns="25400" bIns="25400" rtlCol="0" anchor="t">
            <a:normAutofit/>
          </a:bodyPr>
          <a:lstStyle/>
          <a:p>
            <a:pPr marL="0" indent="0" algn="l">
              <a:lnSpc>
                <a:spcPct val="122927"/>
              </a:lnSpc>
              <a:buNone/>
            </a:pPr>
            <a:r>
              <a:rPr lang="en-US" sz="1800" dirty="0">
                <a:solidFill>
                  <a:srgbClr val="8B949E"/>
                </a:solidFill>
                <a:latin typeface="Arial" pitchFamily="34" charset="0"/>
                <a:ea typeface="Arial" pitchFamily="34" charset="-122"/>
                <a:cs typeface="Arial" pitchFamily="34" charset="-120"/>
              </a:rPr>
              <a:t>a compile-time guard allows what it exists to prevent</a:t>
            </a:r>
            <a:endParaRPr lang="en-US" sz="1800" dirty="0"/>
          </a:p>
        </p:txBody>
      </p:sp>
      <p:sp>
        <p:nvSpPr>
          <p:cNvPr id="27" name="Shape 25"/>
          <p:cNvSpPr/>
          <p:nvPr/>
        </p:nvSpPr>
        <p:spPr>
          <a:xfrm>
            <a:off x="11474450" y="6706870"/>
            <a:ext cx="5670550" cy="9525"/>
          </a:xfrm>
          <a:prstGeom prst="rect">
            <a:avLst/>
          </a:prstGeom>
          <a:solidFill>
            <a:srgbClr val="262D36"/>
          </a:solidFill>
          <a:ln/>
        </p:spPr>
      </p:sp>
      <p:sp>
        <p:nvSpPr>
          <p:cNvPr id="28" name="Shape 26"/>
          <p:cNvSpPr/>
          <p:nvPr/>
        </p:nvSpPr>
        <p:spPr>
          <a:xfrm>
            <a:off x="11474450" y="5999480"/>
            <a:ext cx="5670550" cy="9525"/>
          </a:xfrm>
          <a:prstGeom prst="rect">
            <a:avLst/>
          </a:prstGeom>
          <a:solidFill>
            <a:srgbClr val="262D36"/>
          </a:solidFill>
          <a:ln/>
        </p:spPr>
      </p:sp>
      <p:sp>
        <p:nvSpPr>
          <p:cNvPr id="29" name="Text 27"/>
          <p:cNvSpPr/>
          <p:nvPr/>
        </p:nvSpPr>
        <p:spPr>
          <a:xfrm>
            <a:off x="11474450" y="6196330"/>
            <a:ext cx="5840666" cy="358140"/>
          </a:xfrm>
          <a:prstGeom prst="rect">
            <a:avLst/>
          </a:prstGeom>
          <a:noFill/>
          <a:ln/>
        </p:spPr>
        <p:txBody>
          <a:bodyPr wrap="square" lIns="25400" tIns="25400" rIns="25400" bIns="25400" rtlCol="0" anchor="t">
            <a:normAutofit/>
          </a:bodyPr>
          <a:lstStyle/>
          <a:p>
            <a:pPr marL="0" indent="0" algn="l">
              <a:lnSpc>
                <a:spcPct val="122927"/>
              </a:lnSpc>
              <a:buNone/>
            </a:pPr>
            <a:r>
              <a:rPr lang="en-US" sz="1800" dirty="0">
                <a:solidFill>
                  <a:srgbClr val="8B949E"/>
                </a:solidFill>
                <a:latin typeface="Arial" pitchFamily="34" charset="0"/>
                <a:ea typeface="Arial" pitchFamily="34" charset="-122"/>
                <a:cs typeface="Arial" pitchFamily="34" charset="-120"/>
              </a:rPr>
              <a:t>the strict check is compiled out of the release build</a:t>
            </a:r>
            <a:endParaRPr lang="en-US" sz="1800" dirty="0"/>
          </a:p>
        </p:txBody>
      </p:sp>
      <p:sp>
        <p:nvSpPr>
          <p:cNvPr id="2" name="Text 5">
            <a:extLst>
              <a:ext uri="{FF2B5EF4-FFF2-40B4-BE49-F238E27FC236}">
                <a16:creationId xmlns:a16="http://schemas.microsoft.com/office/drawing/2014/main" id="{E690ACB7-86EE-852C-AF84-6D59C056D9E5}"/>
              </a:ext>
            </a:extLst>
          </p:cNvPr>
          <p:cNvSpPr/>
          <p:nvPr/>
        </p:nvSpPr>
        <p:spPr>
          <a:xfrm>
            <a:off x="937260" y="8440419"/>
            <a:ext cx="9056370" cy="1181100"/>
          </a:xfrm>
          <a:prstGeom prst="rect">
            <a:avLst/>
          </a:prstGeom>
          <a:noFill/>
          <a:ln/>
        </p:spPr>
        <p:txBody>
          <a:bodyPr wrap="square" lIns="25400" tIns="25400" rIns="25400" bIns="25400" rtlCol="0" anchor="t">
            <a:normAutofit/>
          </a:bodyPr>
          <a:lstStyle/>
          <a:p>
            <a:pPr>
              <a:lnSpc>
                <a:spcPct val="105882"/>
              </a:lnSpc>
            </a:pPr>
            <a:r>
              <a:rPr lang="en-US" sz="2400" b="1" kern="0" spc="-45" dirty="0">
                <a:solidFill>
                  <a:srgbClr val="E6EDF3"/>
                </a:solidFill>
                <a:latin typeface="Arial"/>
                <a:cs typeface="Arial"/>
              </a:rPr>
              <a:t>1 PR for documentation correction for XLS-66</a:t>
            </a:r>
            <a:endParaRPr lang="en-US" sz="1400">
              <a:solidFill>
                <a:srgbClr val="000000"/>
              </a:solidFill>
              <a:latin typeface="Calibri" panose="020F0502020204030204"/>
              <a:ea typeface="Calibri" panose="020F0502020204030204"/>
              <a:cs typeface="Calibri" panose="020F0502020204030204"/>
            </a:endParaRPr>
          </a:p>
          <a:p>
            <a:pPr>
              <a:lnSpc>
                <a:spcPct val="105882"/>
              </a:lnSpc>
            </a:pPr>
            <a:r>
              <a:rPr lang="en-US" sz="2400" kern="0" spc="-45" dirty="0">
                <a:solidFill>
                  <a:srgbClr val="E6EDF3"/>
                </a:solidFill>
                <a:ea typeface="+mn-lt"/>
                <a:cs typeface="+mn-lt"/>
              </a:rPr>
              <a:t>https://github.com/XRPLF/XRPL-Standards/pull/634</a:t>
            </a:r>
            <a:endParaRPr lang="en-US" sz="1400">
              <a:ea typeface="+mn-lt"/>
              <a:cs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116"/>
        </a:solidFill>
        <a:effectLst/>
      </p:bgPr>
    </p:bg>
    <p:spTree>
      <p:nvGrpSpPr>
        <p:cNvPr id="1" name=""/>
        <p:cNvGrpSpPr/>
        <p:nvPr/>
      </p:nvGrpSpPr>
      <p:grpSpPr>
        <a:xfrm>
          <a:off x="0" y="0"/>
          <a:ext cx="0" cy="0"/>
          <a:chOff x="0" y="0"/>
          <a:chExt cx="0" cy="0"/>
        </a:xfrm>
      </p:grpSpPr>
      <p:sp>
        <p:nvSpPr>
          <p:cNvPr id="3" name="Text 1"/>
          <p:cNvSpPr/>
          <p:nvPr/>
        </p:nvSpPr>
        <p:spPr>
          <a:xfrm>
            <a:off x="1085850" y="694690"/>
            <a:ext cx="17602200" cy="758190"/>
          </a:xfrm>
          <a:prstGeom prst="rect">
            <a:avLst/>
          </a:prstGeom>
          <a:noFill/>
          <a:ln/>
        </p:spPr>
        <p:txBody>
          <a:bodyPr wrap="square" lIns="25400" tIns="25400" rIns="25400" bIns="25400" rtlCol="0" anchor="t">
            <a:normAutofit lnSpcReduction="10000"/>
          </a:bodyPr>
          <a:lstStyle/>
          <a:p>
            <a:pPr marL="0" indent="0" algn="l">
              <a:lnSpc>
                <a:spcPct val="93719"/>
              </a:lnSpc>
              <a:buNone/>
            </a:pPr>
            <a:r>
              <a:rPr lang="en-US" sz="5400" b="1" kern="0" spc="-135" dirty="0">
                <a:solidFill>
                  <a:srgbClr val="E6EDF3"/>
                </a:solidFill>
                <a:latin typeface="Arial"/>
                <a:ea typeface="Calibri" panose="020F0502020204030204"/>
                <a:cs typeface="Arial"/>
              </a:rPr>
              <a:t>Demo</a:t>
            </a:r>
            <a:endParaRPr lang="en-US" sz="5400" dirty="0">
              <a:latin typeface="Arial"/>
              <a:ea typeface="Calibri" panose="020F0502020204030204"/>
              <a:cs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116"/>
        </a:solidFill>
        <a:effectLst/>
      </p:bgPr>
    </p:bg>
    <p:spTree>
      <p:nvGrpSpPr>
        <p:cNvPr id="1" name=""/>
        <p:cNvGrpSpPr/>
        <p:nvPr/>
      </p:nvGrpSpPr>
      <p:grpSpPr>
        <a:xfrm>
          <a:off x="0" y="0"/>
          <a:ext cx="0" cy="0"/>
          <a:chOff x="0" y="0"/>
          <a:chExt cx="0" cy="0"/>
        </a:xfrm>
      </p:grpSpPr>
      <p:sp>
        <p:nvSpPr>
          <p:cNvPr id="3" name="Text 1"/>
          <p:cNvSpPr/>
          <p:nvPr/>
        </p:nvSpPr>
        <p:spPr>
          <a:xfrm>
            <a:off x="1143000" y="1346200"/>
            <a:ext cx="17602200" cy="758190"/>
          </a:xfrm>
          <a:prstGeom prst="rect">
            <a:avLst/>
          </a:prstGeom>
          <a:noFill/>
          <a:ln/>
        </p:spPr>
        <p:txBody>
          <a:bodyPr wrap="square" lIns="25400" tIns="25400" rIns="25400" bIns="25400" rtlCol="0" anchor="t">
            <a:normAutofit lnSpcReduction="10000"/>
          </a:bodyPr>
          <a:lstStyle/>
          <a:p>
            <a:pPr>
              <a:lnSpc>
                <a:spcPct val="93719"/>
              </a:lnSpc>
            </a:pPr>
            <a:r>
              <a:rPr lang="en-US" sz="5400" b="1" kern="0" spc="-135">
                <a:solidFill>
                  <a:srgbClr val="E6EDF3"/>
                </a:solidFill>
                <a:latin typeface="Arial"/>
                <a:cs typeface="Arial"/>
              </a:rPr>
              <a:t>Team</a:t>
            </a:r>
            <a:endParaRPr lang="en-US" sz="5400"/>
          </a:p>
        </p:txBody>
      </p:sp>
      <p:sp>
        <p:nvSpPr>
          <p:cNvPr id="4" name="Shape 2"/>
          <p:cNvSpPr/>
          <p:nvPr/>
        </p:nvSpPr>
        <p:spPr>
          <a:xfrm>
            <a:off x="1360170" y="6718300"/>
            <a:ext cx="7543800" cy="9525"/>
          </a:xfrm>
          <a:prstGeom prst="rect">
            <a:avLst/>
          </a:prstGeom>
          <a:solidFill>
            <a:srgbClr val="262D36"/>
          </a:solidFill>
          <a:ln/>
        </p:spPr>
      </p:sp>
      <p:sp>
        <p:nvSpPr>
          <p:cNvPr id="5" name="Text 3"/>
          <p:cNvSpPr/>
          <p:nvPr/>
        </p:nvSpPr>
        <p:spPr>
          <a:xfrm>
            <a:off x="1360170" y="7048500"/>
            <a:ext cx="8298180" cy="622300"/>
          </a:xfrm>
          <a:prstGeom prst="rect">
            <a:avLst/>
          </a:prstGeom>
          <a:noFill/>
          <a:ln/>
        </p:spPr>
        <p:txBody>
          <a:bodyPr wrap="square" lIns="25400" tIns="25400" rIns="25400" bIns="25400" rtlCol="0" anchor="t">
            <a:normAutofit/>
          </a:bodyPr>
          <a:lstStyle/>
          <a:p>
            <a:r>
              <a:rPr lang="en-US" sz="3300" b="1" kern="0" spc="-66">
                <a:solidFill>
                  <a:srgbClr val="E6EDF3"/>
                </a:solidFill>
                <a:latin typeface="Arial"/>
                <a:cs typeface="Arial"/>
              </a:rPr>
              <a:t>Youssef </a:t>
            </a:r>
            <a:r>
              <a:rPr lang="en-US" sz="3300" b="1" kern="0" spc="-66" err="1">
                <a:solidFill>
                  <a:srgbClr val="E6EDF3"/>
                </a:solidFill>
                <a:latin typeface="Arial"/>
                <a:cs typeface="Arial"/>
              </a:rPr>
              <a:t>Jeddi</a:t>
            </a:r>
          </a:p>
        </p:txBody>
      </p:sp>
      <p:sp>
        <p:nvSpPr>
          <p:cNvPr id="6" name="Text 4"/>
          <p:cNvSpPr/>
          <p:nvPr/>
        </p:nvSpPr>
        <p:spPr>
          <a:xfrm>
            <a:off x="1360170" y="7766050"/>
            <a:ext cx="8298180" cy="412750"/>
          </a:xfrm>
          <a:prstGeom prst="rect">
            <a:avLst/>
          </a:prstGeom>
          <a:noFill/>
          <a:ln/>
        </p:spPr>
        <p:txBody>
          <a:bodyPr wrap="square" lIns="25400" tIns="25400" rIns="25400" bIns="25400" rtlCol="0" anchor="t">
            <a:normAutofit/>
          </a:bodyPr>
          <a:lstStyle/>
          <a:p>
            <a:r>
              <a:rPr lang="en-US" sz="2100">
                <a:solidFill>
                  <a:srgbClr val="8B949E"/>
                </a:solidFill>
                <a:latin typeface="Arial"/>
                <a:cs typeface="Arial"/>
              </a:rPr>
              <a:t>MSc Cybersecurity</a:t>
            </a:r>
            <a:endParaRPr lang="en-US">
              <a:ea typeface="Calibri" panose="020F0502020204030204"/>
              <a:cs typeface="Calibri" panose="020F0502020204030204"/>
            </a:endParaRPr>
          </a:p>
        </p:txBody>
      </p:sp>
      <p:sp>
        <p:nvSpPr>
          <p:cNvPr id="7" name="Shape 5"/>
          <p:cNvSpPr/>
          <p:nvPr/>
        </p:nvSpPr>
        <p:spPr>
          <a:xfrm>
            <a:off x="9818370" y="6718300"/>
            <a:ext cx="7543800" cy="9525"/>
          </a:xfrm>
          <a:prstGeom prst="rect">
            <a:avLst/>
          </a:prstGeom>
          <a:solidFill>
            <a:srgbClr val="262D36"/>
          </a:solidFill>
          <a:ln/>
        </p:spPr>
      </p:sp>
      <p:sp>
        <p:nvSpPr>
          <p:cNvPr id="8" name="Text 6"/>
          <p:cNvSpPr/>
          <p:nvPr/>
        </p:nvSpPr>
        <p:spPr>
          <a:xfrm>
            <a:off x="9818370" y="7048500"/>
            <a:ext cx="8298180" cy="622300"/>
          </a:xfrm>
          <a:prstGeom prst="rect">
            <a:avLst/>
          </a:prstGeom>
          <a:noFill/>
          <a:ln/>
        </p:spPr>
        <p:txBody>
          <a:bodyPr wrap="square" lIns="25400" tIns="25400" rIns="25400" bIns="25400" rtlCol="0" anchor="t">
            <a:normAutofit/>
          </a:bodyPr>
          <a:lstStyle/>
          <a:p>
            <a:r>
              <a:rPr lang="en-US" sz="3300" b="1" kern="0" spc="-66">
                <a:solidFill>
                  <a:srgbClr val="E6EDF3"/>
                </a:solidFill>
                <a:latin typeface="Arial"/>
                <a:cs typeface="Arial"/>
              </a:rPr>
              <a:t>Stan Stelcher</a:t>
            </a:r>
            <a:endParaRPr lang="en-US"/>
          </a:p>
        </p:txBody>
      </p:sp>
      <p:sp>
        <p:nvSpPr>
          <p:cNvPr id="9" name="Text 7"/>
          <p:cNvSpPr/>
          <p:nvPr/>
        </p:nvSpPr>
        <p:spPr>
          <a:xfrm>
            <a:off x="9818370" y="7766050"/>
            <a:ext cx="8298180" cy="412750"/>
          </a:xfrm>
          <a:prstGeom prst="rect">
            <a:avLst/>
          </a:prstGeom>
          <a:noFill/>
          <a:ln/>
        </p:spPr>
        <p:txBody>
          <a:bodyPr wrap="square" lIns="25400" tIns="25400" rIns="25400" bIns="25400" rtlCol="0" anchor="t">
            <a:normAutofit/>
          </a:bodyPr>
          <a:lstStyle/>
          <a:p>
            <a:r>
              <a:rPr lang="en-US" sz="2100">
                <a:solidFill>
                  <a:srgbClr val="8B949E"/>
                </a:solidFill>
                <a:latin typeface="Arial"/>
                <a:ea typeface="Calibri"/>
                <a:cs typeface="Arial"/>
              </a:rPr>
              <a:t>BSc Cybersecurity</a:t>
            </a:r>
          </a:p>
        </p:txBody>
      </p:sp>
      <p:sp>
        <p:nvSpPr>
          <p:cNvPr id="10" name="Shape 8"/>
          <p:cNvSpPr/>
          <p:nvPr/>
        </p:nvSpPr>
        <p:spPr>
          <a:xfrm>
            <a:off x="1360170" y="8464550"/>
            <a:ext cx="7543800" cy="9525"/>
          </a:xfrm>
          <a:prstGeom prst="rect">
            <a:avLst/>
          </a:prstGeom>
          <a:solidFill>
            <a:srgbClr val="262D36"/>
          </a:solidFill>
          <a:ln/>
        </p:spPr>
      </p:sp>
      <p:sp>
        <p:nvSpPr>
          <p:cNvPr id="13" name="Shape 11"/>
          <p:cNvSpPr/>
          <p:nvPr/>
        </p:nvSpPr>
        <p:spPr>
          <a:xfrm>
            <a:off x="9818370" y="8464550"/>
            <a:ext cx="7543800" cy="9525"/>
          </a:xfrm>
          <a:prstGeom prst="rect">
            <a:avLst/>
          </a:prstGeom>
          <a:solidFill>
            <a:srgbClr val="262D36"/>
          </a:solidFill>
          <a:ln/>
        </p:spPr>
      </p:sp>
      <p:pic>
        <p:nvPicPr>
          <p:cNvPr id="2" name="Picture 1" descr="https://media.licdn.com/dms/image/v2/D5603AQHz4l5CUxN5qw/profile-displayphoto-crop_800_800/B56ZoRoqYRIcAQ-/0/1761232466691?e=1790812800&amp;v=beta&amp;t=DwREIcU6zu-3l_ZrD4m0YG6MOfqYSfgD_3m095wAd1Q">
            <a:extLst>
              <a:ext uri="{FF2B5EF4-FFF2-40B4-BE49-F238E27FC236}">
                <a16:creationId xmlns:a16="http://schemas.microsoft.com/office/drawing/2014/main" id="{3E95D0B2-6652-F1BB-21D4-4BCF2C4E47D5}"/>
              </a:ext>
            </a:extLst>
          </p:cNvPr>
          <p:cNvPicPr>
            <a:picLocks noChangeAspect="1"/>
          </p:cNvPicPr>
          <p:nvPr/>
        </p:nvPicPr>
        <p:blipFill>
          <a:blip r:embed="rId3"/>
          <a:stretch>
            <a:fillRect/>
          </a:stretch>
        </p:blipFill>
        <p:spPr>
          <a:xfrm>
            <a:off x="3141073" y="2454185"/>
            <a:ext cx="3983627" cy="393899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1" name="Picture 10">
            <a:extLst>
              <a:ext uri="{FF2B5EF4-FFF2-40B4-BE49-F238E27FC236}">
                <a16:creationId xmlns:a16="http://schemas.microsoft.com/office/drawing/2014/main" id="{7337A7AE-5053-A27B-6674-E8E8D09DB608}"/>
              </a:ext>
            </a:extLst>
          </p:cNvPr>
          <p:cNvPicPr>
            <a:picLocks noChangeAspect="1"/>
          </p:cNvPicPr>
          <p:nvPr/>
        </p:nvPicPr>
        <p:blipFill>
          <a:blip r:embed="rId4"/>
          <a:stretch>
            <a:fillRect/>
          </a:stretch>
        </p:blipFill>
        <p:spPr>
          <a:xfrm>
            <a:off x="11285765" y="2571751"/>
            <a:ext cx="4000500" cy="393518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8</Slides>
  <Notes>8</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62</cp:revision>
  <dcterms:created xsi:type="dcterms:W3CDTF">2026-09-13T05:59:12Z</dcterms:created>
  <dcterms:modified xsi:type="dcterms:W3CDTF">2026-09-13T09:58:55Z</dcterms:modified>
</cp:coreProperties>
</file>